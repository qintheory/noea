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Noéa translates long hydrological records into something people can experience. The pulse below is real data: Hong Kong's annual peak daily rainfall, 1884 to 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stations measure more rain and more rivers every year. The data can tell us a river is changing. What it rarely does is make anyone feel it, and without that, decisions stall.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Noéa reads a rainfall or river record the way a cardiologist reads an ECG, looking for rhythm, memory and shock. From that it derives two affective values, valence and arousal: how pleasant or distressing, and how activated. Those are designed to feed an XR and sound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layers, kept deliberately apart. The first is plain science: for Hong Kong, over a century of daily rainfall from the Observatory; for the Rhine and its alpine tributaries, eight stations of discharge. The second layer is curatorial. How a drought or a flood should feel is decided in one place, so it can change without touching the science.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has one job so far: finding unusual years. For each record, an unsupervised model learns what a typical year looks like, then scores how badly each year fails to fit. On the Rhine, its highest-scoring years include the August 2005 Alpine flood, the May 1999 Swiss flood, and the Christmas 1993 flood. It was never told those events existed.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isn't specific to these places. Each record fits its own model on its own history, so another rainfall or river record can go through the same pipeline. Hong Kong and the Rhine are the two I've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doesn't do yet: it misses droughts. And most importantly, nobody has tested whether people feel what the system intends. That is the research: learning the mapping from human responses, and testing it with the people who have to decide.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9FB"/>
        </a:solidFill>
        <a:effectLst/>
      </p:bgPr>
    </p:bg>
    <p:spTree>
      <p:nvGrpSpPr>
        <p:cNvPr id="1" name=""/>
        <p:cNvGrpSpPr/>
        <p:nvPr/>
      </p:nvGrpSpPr>
      <p:grpSpPr/>
      <p:sp>
        <p:nvSpPr>
          <p:cNvPr id="2" name="TextBox 1"/>
          <p:cNvSpPr txBox="1"/>
          <p:nvPr/>
        </p:nvSpPr>
        <p:spPr>
          <a:xfrm>
            <a:off x="731520" y="868680"/>
            <a:ext cx="10058400" cy="1554480"/>
          </a:xfrm>
          <a:prstGeom prst="rect">
            <a:avLst/>
          </a:prstGeom>
          <a:noFill/>
        </p:spPr>
        <p:txBody>
          <a:bodyPr wrap="square" lIns="0" rIns="0" tIns="0" bIns="0" anchor="t">
            <a:noAutofit/>
          </a:bodyPr>
          <a:lstStyle/>
          <a:p>
            <a:pPr algn="l"/>
            <a:r>
              <a:rPr sz="9600" b="1" i="0">
                <a:solidFill>
                  <a:srgbClr val="0B2545"/>
                </a:solidFill>
                <a:latin typeface="Georgia"/>
              </a:rPr>
              <a:t>Noéa</a:t>
            </a:r>
          </a:p>
        </p:txBody>
      </p:sp>
      <p:sp>
        <p:nvSpPr>
          <p:cNvPr id="3" name="TextBox 2"/>
          <p:cNvSpPr txBox="1"/>
          <p:nvPr/>
        </p:nvSpPr>
        <p:spPr>
          <a:xfrm>
            <a:off x="731520" y="2514600"/>
            <a:ext cx="10515600" cy="640080"/>
          </a:xfrm>
          <a:prstGeom prst="rect">
            <a:avLst/>
          </a:prstGeom>
          <a:noFill/>
        </p:spPr>
        <p:txBody>
          <a:bodyPr wrap="square" lIns="0" rIns="0" tIns="0" bIns="0" anchor="t">
            <a:noAutofit/>
          </a:bodyPr>
          <a:lstStyle/>
          <a:p>
            <a:pPr algn="l"/>
            <a:r>
              <a:rPr sz="3200" b="0" i="0">
                <a:solidFill>
                  <a:srgbClr val="2E6F9E"/>
                </a:solidFill>
                <a:latin typeface="Helvetica Neue"/>
              </a:rPr>
              <a:t>Reading water as rhythm, memory and mood</a:t>
            </a:r>
          </a:p>
        </p:txBody>
      </p:sp>
      <p:sp>
        <p:nvSpPr>
          <p:cNvPr id="4" name="TextBox 3"/>
          <p:cNvSpPr txBox="1"/>
          <p:nvPr/>
        </p:nvSpPr>
        <p:spPr>
          <a:xfrm>
            <a:off x="731520" y="3246120"/>
            <a:ext cx="10515600" cy="365760"/>
          </a:xfrm>
          <a:prstGeom prst="rect">
            <a:avLst/>
          </a:prstGeom>
          <a:noFill/>
        </p:spPr>
        <p:txBody>
          <a:bodyPr wrap="square" lIns="0" rIns="0" tIns="0" bIns="0" anchor="t">
            <a:noAutofit/>
          </a:bodyPr>
          <a:lstStyle/>
          <a:p>
            <a:pPr algn="l"/>
            <a:r>
              <a:rPr sz="1700" b="0" i="0">
                <a:solidFill>
                  <a:srgbClr val="5C6F7B"/>
                </a:solidFill>
                <a:latin typeface="Helvetica Neue"/>
              </a:rPr>
              <a:t>Affective computing for water systems  ·  Meeting of Waters, Geneva</a:t>
            </a:r>
          </a:p>
        </p:txBody>
      </p:sp>
      <p:pic>
        <p:nvPicPr>
          <p:cNvPr id="5" name="Picture 4" descr="cover_pulse.png"/>
          <p:cNvPicPr>
            <a:picLocks noChangeAspect="1"/>
          </p:cNvPicPr>
          <p:nvPr/>
        </p:nvPicPr>
        <p:blipFill>
          <a:blip r:embed="rId3"/>
          <a:stretch>
            <a:fillRect/>
          </a:stretch>
        </p:blipFill>
        <p:spPr>
          <a:xfrm>
            <a:off x="0" y="3703320"/>
            <a:ext cx="12191695" cy="2377975"/>
          </a:xfrm>
          <a:prstGeom prst="rect">
            <a:avLst/>
          </a:prstGeom>
        </p:spPr>
      </p:pic>
      <p:sp>
        <p:nvSpPr>
          <p:cNvPr id="6" name="TextBox 5"/>
          <p:cNvSpPr txBox="1"/>
          <p:nvPr/>
        </p:nvSpPr>
        <p:spPr>
          <a:xfrm>
            <a:off x="731520" y="6291072"/>
            <a:ext cx="10789920" cy="365760"/>
          </a:xfrm>
          <a:prstGeom prst="rect">
            <a:avLst/>
          </a:prstGeom>
          <a:noFill/>
        </p:spPr>
        <p:txBody>
          <a:bodyPr wrap="square" lIns="0" rIns="0" tIns="0" bIns="0" anchor="t">
            <a:noAutofit/>
          </a:bodyPr>
          <a:lstStyle/>
          <a:p>
            <a:pPr algn="l"/>
            <a:r>
              <a:rPr sz="1200" b="0" i="0">
                <a:solidFill>
                  <a:srgbClr val="5C6F7B"/>
                </a:solidFill>
                <a:latin typeface="Helvetica Neue"/>
              </a:rPr>
              <a:t>Annual peak daily rainfall, Hong Kong, 1884–2025, drawn as a pulse. The flat stretch is 1940–46, missing from the record.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9FB"/>
        </a:solidFill>
        <a:effectLst/>
      </p:bgPr>
    </p:bg>
    <p:spTree>
      <p:nvGrpSpPr>
        <p:cNvPr id="1" name=""/>
        <p:cNvGrpSpPr/>
        <p:nvPr/>
      </p:nvGrpSpPr>
      <p:grpSpPr/>
      <p:sp>
        <p:nvSpPr>
          <p:cNvPr id="2" name="TextBox 1"/>
          <p:cNvSpPr txBox="1"/>
          <p:nvPr/>
        </p:nvSpPr>
        <p:spPr>
          <a:xfrm>
            <a:off x="731520" y="640080"/>
            <a:ext cx="10698480" cy="1463040"/>
          </a:xfrm>
          <a:prstGeom prst="rect">
            <a:avLst/>
          </a:prstGeom>
          <a:noFill/>
        </p:spPr>
        <p:txBody>
          <a:bodyPr wrap="square" lIns="0" rIns="0" tIns="0" bIns="0" anchor="t">
            <a:noAutofit/>
          </a:bodyPr>
          <a:lstStyle/>
          <a:p>
            <a:pPr algn="l">
              <a:lnSpc>
                <a:spcPct val="105000"/>
              </a:lnSpc>
            </a:pPr>
            <a:r>
              <a:rPr sz="3800" b="1" i="0">
                <a:solidFill>
                  <a:srgbClr val="0B2545"/>
                </a:solidFill>
                <a:latin typeface="Georgia"/>
              </a:rPr>
              <a:t>Data can show that a river is changing. It rarely makes anyone feel it.</a:t>
            </a:r>
          </a:p>
        </p:txBody>
      </p:sp>
      <p:sp>
        <p:nvSpPr>
          <p:cNvPr id="3" name="Rounded Rectangle 2"/>
          <p:cNvSpPr/>
          <p:nvPr/>
        </p:nvSpPr>
        <p:spPr>
          <a:xfrm>
            <a:off x="731520" y="2926080"/>
            <a:ext cx="3017520" cy="237744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0"/>
            <a:ext cx="2468880" cy="457200"/>
          </a:xfrm>
          <a:prstGeom prst="rect">
            <a:avLst/>
          </a:prstGeom>
          <a:noFill/>
        </p:spPr>
        <p:txBody>
          <a:bodyPr wrap="square" lIns="0" rIns="0" tIns="0" bIns="0" anchor="t">
            <a:noAutofit/>
          </a:bodyPr>
          <a:lstStyle/>
          <a:p>
            <a:pPr algn="l"/>
            <a:r>
              <a:rPr sz="2600" b="1" i="0">
                <a:solidFill>
                  <a:srgbClr val="0B2545"/>
                </a:solidFill>
                <a:latin typeface="Georgia"/>
              </a:rPr>
              <a:t>Detect</a:t>
            </a:r>
          </a:p>
        </p:txBody>
      </p:sp>
      <p:sp>
        <p:nvSpPr>
          <p:cNvPr id="5" name="TextBox 4"/>
          <p:cNvSpPr txBox="1"/>
          <p:nvPr/>
        </p:nvSpPr>
        <p:spPr>
          <a:xfrm>
            <a:off x="1005840" y="3840480"/>
            <a:ext cx="2468880" cy="1371600"/>
          </a:xfrm>
          <a:prstGeom prst="rect">
            <a:avLst/>
          </a:prstGeom>
          <a:noFill/>
        </p:spPr>
        <p:txBody>
          <a:bodyPr wrap="square" lIns="0" rIns="0" tIns="0" bIns="0" anchor="t">
            <a:noAutofit/>
          </a:bodyPr>
          <a:lstStyle/>
          <a:p>
            <a:pPr algn="l">
              <a:lnSpc>
                <a:spcPct val="110000"/>
              </a:lnSpc>
            </a:pPr>
            <a:r>
              <a:rPr sz="1900" b="0" i="0">
                <a:solidFill>
                  <a:srgbClr val="0B2545"/>
                </a:solidFill>
                <a:latin typeface="Helvetica Neue"/>
              </a:rPr>
              <a:t>Stations now measure rainfall, rivers and glaciers at scale.</a:t>
            </a:r>
          </a:p>
        </p:txBody>
      </p:sp>
      <p:sp>
        <p:nvSpPr>
          <p:cNvPr id="6" name="Right Arrow 5"/>
          <p:cNvSpPr/>
          <p:nvPr/>
        </p:nvSpPr>
        <p:spPr>
          <a:xfrm>
            <a:off x="3813048" y="3931920"/>
            <a:ext cx="411480" cy="365760"/>
          </a:xfrm>
          <a:prstGeom prst="rightArrow">
            <a:avLst/>
          </a:prstGeom>
          <a:solidFill>
            <a:srgbClr val="C9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15968" y="2926080"/>
            <a:ext cx="3703320" cy="2377440"/>
          </a:xfrm>
          <a:prstGeom prst="roundRect">
            <a:avLst>
              <a:gd name="adj" fmla="val 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3200400"/>
            <a:ext cx="3154680" cy="457200"/>
          </a:xfrm>
          <a:prstGeom prst="rect">
            <a:avLst/>
          </a:prstGeom>
          <a:noFill/>
        </p:spPr>
        <p:txBody>
          <a:bodyPr wrap="square" lIns="0" rIns="0" tIns="0" bIns="0" anchor="t">
            <a:noAutofit/>
          </a:bodyPr>
          <a:lstStyle/>
          <a:p>
            <a:pPr algn="l"/>
            <a:r>
              <a:rPr sz="2600" b="1" i="0">
                <a:solidFill>
                  <a:srgbClr val="FFFFFF"/>
                </a:solidFill>
                <a:latin typeface="Georgia"/>
              </a:rPr>
              <a:t>The missing layer</a:t>
            </a:r>
          </a:p>
        </p:txBody>
      </p:sp>
      <p:sp>
        <p:nvSpPr>
          <p:cNvPr id="9" name="TextBox 8"/>
          <p:cNvSpPr txBox="1"/>
          <p:nvPr/>
        </p:nvSpPr>
        <p:spPr>
          <a:xfrm>
            <a:off x="4617720" y="3840480"/>
            <a:ext cx="3154680" cy="1371600"/>
          </a:xfrm>
          <a:prstGeom prst="rect">
            <a:avLst/>
          </a:prstGeom>
          <a:noFill/>
        </p:spPr>
        <p:txBody>
          <a:bodyPr wrap="square" lIns="0" rIns="0" tIns="0" bIns="0" anchor="t">
            <a:noAutofit/>
          </a:bodyPr>
          <a:lstStyle/>
          <a:p>
            <a:pPr algn="l">
              <a:lnSpc>
                <a:spcPct val="110000"/>
              </a:lnSpc>
            </a:pPr>
            <a:r>
              <a:rPr sz="1900" b="0" i="0">
                <a:solidFill>
                  <a:srgbClr val="FFFFFF"/>
                </a:solidFill>
                <a:latin typeface="Helvetica Neue"/>
              </a:rPr>
              <a:t>Turning measurement into meaning people can experience.</a:t>
            </a:r>
          </a:p>
        </p:txBody>
      </p:sp>
      <p:sp>
        <p:nvSpPr>
          <p:cNvPr id="10" name="Right Arrow 9"/>
          <p:cNvSpPr/>
          <p:nvPr/>
        </p:nvSpPr>
        <p:spPr>
          <a:xfrm>
            <a:off x="8083296" y="3931920"/>
            <a:ext cx="411480" cy="365760"/>
          </a:xfrm>
          <a:prstGeom prst="rightArrow">
            <a:avLst/>
          </a:prstGeom>
          <a:solidFill>
            <a:srgbClr val="C9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95360" y="2926080"/>
            <a:ext cx="2880360" cy="237744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0" y="3200400"/>
            <a:ext cx="2377440" cy="457200"/>
          </a:xfrm>
          <a:prstGeom prst="rect">
            <a:avLst/>
          </a:prstGeom>
          <a:noFill/>
        </p:spPr>
        <p:txBody>
          <a:bodyPr wrap="square" lIns="0" rIns="0" tIns="0" bIns="0" anchor="t">
            <a:noAutofit/>
          </a:bodyPr>
          <a:lstStyle/>
          <a:p>
            <a:pPr algn="l"/>
            <a:r>
              <a:rPr sz="2600" b="1" i="0">
                <a:solidFill>
                  <a:srgbClr val="0B2545"/>
                </a:solidFill>
                <a:latin typeface="Georgia"/>
              </a:rPr>
              <a:t>Respond</a:t>
            </a:r>
          </a:p>
        </p:txBody>
      </p:sp>
      <p:sp>
        <p:nvSpPr>
          <p:cNvPr id="13" name="TextBox 12"/>
          <p:cNvSpPr txBox="1"/>
          <p:nvPr/>
        </p:nvSpPr>
        <p:spPr>
          <a:xfrm>
            <a:off x="8869680" y="3840480"/>
            <a:ext cx="2377440" cy="1371600"/>
          </a:xfrm>
          <a:prstGeom prst="rect">
            <a:avLst/>
          </a:prstGeom>
          <a:noFill/>
        </p:spPr>
        <p:txBody>
          <a:bodyPr wrap="square" lIns="0" rIns="0" tIns="0" bIns="0" anchor="t">
            <a:noAutofit/>
          </a:bodyPr>
          <a:lstStyle/>
          <a:p>
            <a:pPr algn="l">
              <a:lnSpc>
                <a:spcPct val="110000"/>
              </a:lnSpc>
            </a:pPr>
            <a:r>
              <a:rPr sz="1900" b="0" i="0">
                <a:solidFill>
                  <a:srgbClr val="0B2545"/>
                </a:solidFill>
                <a:latin typeface="Helvetica Neue"/>
              </a:rPr>
              <a:t>Decisions stall between knowing and acting.</a:t>
            </a:r>
          </a:p>
        </p:txBody>
      </p:sp>
      <p:sp>
        <p:nvSpPr>
          <p:cNvPr id="14" name="TextBox 13"/>
          <p:cNvSpPr txBox="1"/>
          <p:nvPr/>
        </p:nvSpPr>
        <p:spPr>
          <a:xfrm>
            <a:off x="731520" y="5577840"/>
            <a:ext cx="10698480" cy="457200"/>
          </a:xfrm>
          <a:prstGeom prst="rect">
            <a:avLst/>
          </a:prstGeom>
          <a:noFill/>
        </p:spPr>
        <p:txBody>
          <a:bodyPr wrap="square" lIns="0" rIns="0" tIns="0" bIns="0" anchor="t">
            <a:noAutofit/>
          </a:bodyPr>
          <a:lstStyle/>
          <a:p>
            <a:pPr algn="l"/>
            <a:r>
              <a:rPr sz="2000" b="1" i="0">
                <a:solidFill>
                  <a:srgbClr val="2E6F9E"/>
                </a:solidFill>
                <a:latin typeface="Helvetica Neue"/>
              </a:rPr>
              <a:t>Noéa works in the middle.</a:t>
            </a:r>
          </a:p>
        </p:txBody>
      </p:sp>
      <p:sp>
        <p:nvSpPr>
          <p:cNvPr id="15" name="TextBox 14"/>
          <p:cNvSpPr txBox="1"/>
          <p:nvPr/>
        </p:nvSpPr>
        <p:spPr>
          <a:xfrm>
            <a:off x="731520" y="6419088"/>
            <a:ext cx="7315200" cy="274320"/>
          </a:xfrm>
          <a:prstGeom prst="rect">
            <a:avLst/>
          </a:prstGeom>
          <a:noFill/>
        </p:spPr>
        <p:txBody>
          <a:bodyPr wrap="square" lIns="0" rIns="0" tIns="0" bIns="0" anchor="t">
            <a:noAutofit/>
          </a:bodyPr>
          <a:lstStyle/>
          <a:p>
            <a:pPr algn="l"/>
            <a:r>
              <a:rPr sz="1100" b="0" i="0">
                <a:solidFill>
                  <a:srgbClr val="5C6F7B"/>
                </a:solidFill>
                <a:latin typeface="Helvetica Neue"/>
              </a:rPr>
              <a:t>Noéa  ·  Meeting of Waters, Geneva</a:t>
            </a:r>
          </a:p>
        </p:txBody>
      </p:sp>
      <p:sp>
        <p:nvSpPr>
          <p:cNvPr id="16" name="TextBox 15"/>
          <p:cNvSpPr txBox="1"/>
          <p:nvPr/>
        </p:nvSpPr>
        <p:spPr>
          <a:xfrm>
            <a:off x="10881360" y="6419088"/>
            <a:ext cx="594360" cy="274320"/>
          </a:xfrm>
          <a:prstGeom prst="rect">
            <a:avLst/>
          </a:prstGeom>
          <a:noFill/>
        </p:spPr>
        <p:txBody>
          <a:bodyPr wrap="square" lIns="0" rIns="0" tIns="0" bIns="0" anchor="t">
            <a:noAutofit/>
          </a:bodyPr>
          <a:lstStyle/>
          <a:p>
            <a:pPr algn="r"/>
            <a:r>
              <a:rPr sz="1100" b="0" i="0">
                <a:solidFill>
                  <a:srgbClr val="5C6F7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9FB"/>
        </a:solidFill>
        <a:effectLst/>
      </p:bgPr>
    </p:bg>
    <p:spTree>
      <p:nvGrpSpPr>
        <p:cNvPr id="1" name=""/>
        <p:cNvGrpSpPr/>
        <p:nvPr/>
      </p:nvGrpSpPr>
      <p:grpSpPr/>
      <p:sp>
        <p:nvSpPr>
          <p:cNvPr id="2" name="TextBox 1"/>
          <p:cNvSpPr txBox="1"/>
          <p:nvPr/>
        </p:nvSpPr>
        <p:spPr>
          <a:xfrm>
            <a:off x="731520" y="640080"/>
            <a:ext cx="10698480" cy="1463040"/>
          </a:xfrm>
          <a:prstGeom prst="rect">
            <a:avLst/>
          </a:prstGeom>
          <a:noFill/>
        </p:spPr>
        <p:txBody>
          <a:bodyPr wrap="square" lIns="0" rIns="0" tIns="0" bIns="0" anchor="t">
            <a:noAutofit/>
          </a:bodyPr>
          <a:lstStyle/>
          <a:p>
            <a:pPr algn="l">
              <a:lnSpc>
                <a:spcPct val="105000"/>
              </a:lnSpc>
            </a:pPr>
            <a:r>
              <a:rPr sz="3800" b="1" i="0">
                <a:solidFill>
                  <a:srgbClr val="0B2545"/>
                </a:solidFill>
                <a:latin typeface="Georgia"/>
              </a:rPr>
              <a:t>It reads a record the way a cardiologist reads an ECG</a:t>
            </a:r>
          </a:p>
        </p:txBody>
      </p:sp>
      <p:sp>
        <p:nvSpPr>
          <p:cNvPr id="3" name="Rounded Rectangle 2"/>
          <p:cNvSpPr/>
          <p:nvPr/>
        </p:nvSpPr>
        <p:spPr>
          <a:xfrm>
            <a:off x="731520" y="2606040"/>
            <a:ext cx="2331720" cy="320040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862072"/>
            <a:ext cx="1874519" cy="822960"/>
          </a:xfrm>
          <a:prstGeom prst="rect">
            <a:avLst/>
          </a:prstGeom>
          <a:noFill/>
        </p:spPr>
        <p:txBody>
          <a:bodyPr wrap="square" lIns="0" rIns="0" tIns="0" bIns="0" anchor="t">
            <a:noAutofit/>
          </a:bodyPr>
          <a:lstStyle/>
          <a:p>
            <a:pPr algn="l">
              <a:lnSpc>
                <a:spcPct val="100000"/>
              </a:lnSpc>
            </a:pPr>
            <a:r>
              <a:rPr sz="2100" b="1" i="0">
                <a:solidFill>
                  <a:srgbClr val="0B2545"/>
                </a:solidFill>
                <a:latin typeface="Georgia"/>
              </a:rPr>
              <a:t>A long record</a:t>
            </a:r>
          </a:p>
        </p:txBody>
      </p:sp>
      <p:sp>
        <p:nvSpPr>
          <p:cNvPr id="5" name="TextBox 4"/>
          <p:cNvSpPr txBox="1"/>
          <p:nvPr/>
        </p:nvSpPr>
        <p:spPr>
          <a:xfrm>
            <a:off x="960120" y="3749039"/>
            <a:ext cx="1874519" cy="1920240"/>
          </a:xfrm>
          <a:prstGeom prst="rect">
            <a:avLst/>
          </a:prstGeom>
          <a:noFill/>
        </p:spPr>
        <p:txBody>
          <a:bodyPr wrap="square" lIns="0" rIns="0" tIns="0" bIns="0" anchor="t">
            <a:noAutofit/>
          </a:bodyPr>
          <a:lstStyle/>
          <a:p>
            <a:pPr algn="l">
              <a:lnSpc>
                <a:spcPct val="108000"/>
              </a:lnSpc>
              <a:spcAft>
                <a:spcPts val="700"/>
              </a:spcAft>
            </a:pPr>
            <a:r>
              <a:rPr sz="1550" b="0" i="0">
                <a:solidFill>
                  <a:srgbClr val="0B2545"/>
                </a:solidFill>
                <a:latin typeface="Helvetica Neue"/>
              </a:rPr>
              <a:t>Daily rainfall or river discharge, covering decades to centuries.</a:t>
            </a:r>
          </a:p>
        </p:txBody>
      </p:sp>
      <p:sp>
        <p:nvSpPr>
          <p:cNvPr id="6" name="Right Arrow 5"/>
          <p:cNvSpPr/>
          <p:nvPr/>
        </p:nvSpPr>
        <p:spPr>
          <a:xfrm>
            <a:off x="3081527" y="4023359"/>
            <a:ext cx="420624" cy="365760"/>
          </a:xfrm>
          <a:prstGeom prst="rightArrow">
            <a:avLst/>
          </a:prstGeom>
          <a:solidFill>
            <a:srgbClr val="C9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20439" y="2606040"/>
            <a:ext cx="2331720" cy="320040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2862072"/>
            <a:ext cx="1874519" cy="822960"/>
          </a:xfrm>
          <a:prstGeom prst="rect">
            <a:avLst/>
          </a:prstGeom>
          <a:noFill/>
        </p:spPr>
        <p:txBody>
          <a:bodyPr wrap="square" lIns="0" rIns="0" tIns="0" bIns="0" anchor="t">
            <a:noAutofit/>
          </a:bodyPr>
          <a:lstStyle/>
          <a:p>
            <a:pPr algn="l">
              <a:lnSpc>
                <a:spcPct val="100000"/>
              </a:lnSpc>
            </a:pPr>
            <a:r>
              <a:rPr sz="2100" b="1" i="0">
                <a:solidFill>
                  <a:srgbClr val="0B2545"/>
                </a:solidFill>
                <a:latin typeface="Georgia"/>
              </a:rPr>
              <a:t>Diagnostics</a:t>
            </a:r>
          </a:p>
        </p:txBody>
      </p:sp>
      <p:sp>
        <p:nvSpPr>
          <p:cNvPr id="9" name="TextBox 8"/>
          <p:cNvSpPr txBox="1"/>
          <p:nvPr/>
        </p:nvSpPr>
        <p:spPr>
          <a:xfrm>
            <a:off x="3749039" y="3749039"/>
            <a:ext cx="1874519" cy="1920240"/>
          </a:xfrm>
          <a:prstGeom prst="rect">
            <a:avLst/>
          </a:prstGeom>
          <a:noFill/>
        </p:spPr>
        <p:txBody>
          <a:bodyPr wrap="square" lIns="0" rIns="0" tIns="0" bIns="0" anchor="t">
            <a:noAutofit/>
          </a:bodyPr>
          <a:lstStyle/>
          <a:p>
            <a:pPr algn="l">
              <a:lnSpc>
                <a:spcPct val="108000"/>
              </a:lnSpc>
              <a:spcAft>
                <a:spcPts val="700"/>
              </a:spcAft>
            </a:pPr>
            <a:r>
              <a:rPr sz="1550" b="0" i="0">
                <a:solidFill>
                  <a:srgbClr val="0B2545"/>
                </a:solidFill>
                <a:latin typeface="Helvetica Neue"/>
              </a:rPr>
              <a:t>Peaks and the gaps between them, return periods, flow duration, recession, the seasonal cycle.</a:t>
            </a:r>
          </a:p>
        </p:txBody>
      </p:sp>
      <p:sp>
        <p:nvSpPr>
          <p:cNvPr id="10" name="Right Arrow 9"/>
          <p:cNvSpPr/>
          <p:nvPr/>
        </p:nvSpPr>
        <p:spPr>
          <a:xfrm>
            <a:off x="5870447" y="4023359"/>
            <a:ext cx="420624" cy="365760"/>
          </a:xfrm>
          <a:prstGeom prst="rightArrow">
            <a:avLst/>
          </a:prstGeom>
          <a:solidFill>
            <a:srgbClr val="C9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09359" y="2606040"/>
            <a:ext cx="2331720" cy="3200400"/>
          </a:xfrm>
          <a:prstGeom prst="roundRect">
            <a:avLst>
              <a:gd name="adj" fmla="val 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59" y="2862072"/>
            <a:ext cx="1874519" cy="822960"/>
          </a:xfrm>
          <a:prstGeom prst="rect">
            <a:avLst/>
          </a:prstGeom>
          <a:noFill/>
        </p:spPr>
        <p:txBody>
          <a:bodyPr wrap="square" lIns="0" rIns="0" tIns="0" bIns="0" anchor="t">
            <a:noAutofit/>
          </a:bodyPr>
          <a:lstStyle/>
          <a:p>
            <a:pPr algn="l">
              <a:lnSpc>
                <a:spcPct val="100000"/>
              </a:lnSpc>
            </a:pPr>
            <a:r>
              <a:rPr sz="2100" b="1" i="0">
                <a:solidFill>
                  <a:srgbClr val="FFFFFF"/>
                </a:solidFill>
                <a:latin typeface="Georgia"/>
              </a:rPr>
              <a:t>Two affective values</a:t>
            </a:r>
          </a:p>
        </p:txBody>
      </p:sp>
      <p:sp>
        <p:nvSpPr>
          <p:cNvPr id="13" name="TextBox 12"/>
          <p:cNvSpPr txBox="1"/>
          <p:nvPr/>
        </p:nvSpPr>
        <p:spPr>
          <a:xfrm>
            <a:off x="6537959" y="3749039"/>
            <a:ext cx="1874519" cy="1920240"/>
          </a:xfrm>
          <a:prstGeom prst="rect">
            <a:avLst/>
          </a:prstGeom>
          <a:noFill/>
        </p:spPr>
        <p:txBody>
          <a:bodyPr wrap="square" lIns="0" rIns="0" tIns="0" bIns="0" anchor="t">
            <a:noAutofit/>
          </a:bodyPr>
          <a:lstStyle/>
          <a:p>
            <a:pPr algn="l">
              <a:lnSpc>
                <a:spcPct val="108000"/>
              </a:lnSpc>
              <a:spcAft>
                <a:spcPts val="700"/>
              </a:spcAft>
            </a:pPr>
            <a:r>
              <a:rPr sz="1550" b="0" i="0">
                <a:solidFill>
                  <a:srgbClr val="FFFFFF"/>
                </a:solidFill>
                <a:latin typeface="Helvetica Neue"/>
              </a:rPr>
              <a:t>Valence: pleasant ↔ distressing.</a:t>
            </a:r>
          </a:p>
          <a:p>
            <a:pPr algn="l">
              <a:lnSpc>
                <a:spcPct val="108000"/>
              </a:lnSpc>
              <a:spcAft>
                <a:spcPts val="700"/>
              </a:spcAft>
            </a:pPr>
            <a:r>
              <a:rPr sz="1550" b="0" i="0">
                <a:solidFill>
                  <a:srgbClr val="FFFFFF"/>
                </a:solidFill>
                <a:latin typeface="Helvetica Neue"/>
              </a:rPr>
              <a:t>Arousal: calm ↔ activated.</a:t>
            </a:r>
          </a:p>
          <a:p>
            <a:pPr algn="l">
              <a:lnSpc>
                <a:spcPct val="108000"/>
              </a:lnSpc>
              <a:spcAft>
                <a:spcPts val="700"/>
              </a:spcAft>
            </a:pPr>
            <a:r>
              <a:rPr sz="1550" b="0" i="0">
                <a:solidFill>
                  <a:srgbClr val="FFFFFF"/>
                </a:solidFill>
                <a:latin typeface="Helvetica Neue"/>
              </a:rPr>
              <a:t>Plus four physical readouts: size, glow, texture, tempo.</a:t>
            </a:r>
          </a:p>
        </p:txBody>
      </p:sp>
      <p:sp>
        <p:nvSpPr>
          <p:cNvPr id="14" name="Right Arrow 13"/>
          <p:cNvSpPr/>
          <p:nvPr/>
        </p:nvSpPr>
        <p:spPr>
          <a:xfrm>
            <a:off x="8659367" y="4023359"/>
            <a:ext cx="420624" cy="365760"/>
          </a:xfrm>
          <a:prstGeom prst="rightArrow">
            <a:avLst/>
          </a:prstGeom>
          <a:solidFill>
            <a:srgbClr val="C9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98280" y="2606040"/>
            <a:ext cx="2331720" cy="320040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2862072"/>
            <a:ext cx="1874519" cy="822960"/>
          </a:xfrm>
          <a:prstGeom prst="rect">
            <a:avLst/>
          </a:prstGeom>
          <a:noFill/>
        </p:spPr>
        <p:txBody>
          <a:bodyPr wrap="square" lIns="0" rIns="0" tIns="0" bIns="0" anchor="t">
            <a:noAutofit/>
          </a:bodyPr>
          <a:lstStyle/>
          <a:p>
            <a:pPr algn="l">
              <a:lnSpc>
                <a:spcPct val="100000"/>
              </a:lnSpc>
            </a:pPr>
            <a:r>
              <a:rPr sz="2100" b="1" i="0">
                <a:solidFill>
                  <a:srgbClr val="0B2545"/>
                </a:solidFill>
                <a:latin typeface="Georgia"/>
              </a:rPr>
              <a:t>XR and sound</a:t>
            </a:r>
          </a:p>
        </p:txBody>
      </p:sp>
      <p:sp>
        <p:nvSpPr>
          <p:cNvPr id="17" name="TextBox 16"/>
          <p:cNvSpPr txBox="1"/>
          <p:nvPr/>
        </p:nvSpPr>
        <p:spPr>
          <a:xfrm>
            <a:off x="9326880" y="3749039"/>
            <a:ext cx="1874519" cy="1920240"/>
          </a:xfrm>
          <a:prstGeom prst="rect">
            <a:avLst/>
          </a:prstGeom>
          <a:noFill/>
        </p:spPr>
        <p:txBody>
          <a:bodyPr wrap="square" lIns="0" rIns="0" tIns="0" bIns="0" anchor="t">
            <a:noAutofit/>
          </a:bodyPr>
          <a:lstStyle/>
          <a:p>
            <a:pPr algn="l">
              <a:lnSpc>
                <a:spcPct val="108000"/>
              </a:lnSpc>
              <a:spcAft>
                <a:spcPts val="700"/>
              </a:spcAft>
            </a:pPr>
            <a:r>
              <a:rPr sz="1550" b="0" i="0">
                <a:solidFill>
                  <a:srgbClr val="0B2545"/>
                </a:solidFill>
                <a:latin typeface="Helvetica Neue"/>
              </a:rPr>
              <a:t>Designed to feed immersive and sonic experiences. The output format is still provisional.</a:t>
            </a:r>
          </a:p>
        </p:txBody>
      </p:sp>
      <p:sp>
        <p:nvSpPr>
          <p:cNvPr id="18" name="TextBox 17"/>
          <p:cNvSpPr txBox="1"/>
          <p:nvPr/>
        </p:nvSpPr>
        <p:spPr>
          <a:xfrm>
            <a:off x="731520" y="6419088"/>
            <a:ext cx="7315200" cy="274320"/>
          </a:xfrm>
          <a:prstGeom prst="rect">
            <a:avLst/>
          </a:prstGeom>
          <a:noFill/>
        </p:spPr>
        <p:txBody>
          <a:bodyPr wrap="square" lIns="0" rIns="0" tIns="0" bIns="0" anchor="t">
            <a:noAutofit/>
          </a:bodyPr>
          <a:lstStyle/>
          <a:p>
            <a:pPr algn="l"/>
            <a:r>
              <a:rPr sz="1100" b="0" i="0">
                <a:solidFill>
                  <a:srgbClr val="5C6F7B"/>
                </a:solidFill>
                <a:latin typeface="Helvetica Neue"/>
              </a:rPr>
              <a:t>Noéa  ·  Meeting of Waters, Geneva</a:t>
            </a:r>
          </a:p>
        </p:txBody>
      </p:sp>
      <p:sp>
        <p:nvSpPr>
          <p:cNvPr id="19" name="TextBox 18"/>
          <p:cNvSpPr txBox="1"/>
          <p:nvPr/>
        </p:nvSpPr>
        <p:spPr>
          <a:xfrm>
            <a:off x="10881360" y="6419088"/>
            <a:ext cx="594360" cy="274320"/>
          </a:xfrm>
          <a:prstGeom prst="rect">
            <a:avLst/>
          </a:prstGeom>
          <a:noFill/>
        </p:spPr>
        <p:txBody>
          <a:bodyPr wrap="square" lIns="0" rIns="0" tIns="0" bIns="0" anchor="t">
            <a:noAutofit/>
          </a:bodyPr>
          <a:lstStyle/>
          <a:p>
            <a:pPr algn="r"/>
            <a:r>
              <a:rPr sz="1100" b="0" i="0">
                <a:solidFill>
                  <a:srgbClr val="5C6F7B"/>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9FB"/>
        </a:solidFill>
        <a:effectLst/>
      </p:bgPr>
    </p:bg>
    <p:spTree>
      <p:nvGrpSpPr>
        <p:cNvPr id="1" name=""/>
        <p:cNvGrpSpPr/>
        <p:nvPr/>
      </p:nvGrpSpPr>
      <p:grpSpPr/>
      <p:sp>
        <p:nvSpPr>
          <p:cNvPr id="2" name="TextBox 1"/>
          <p:cNvSpPr txBox="1"/>
          <p:nvPr/>
        </p:nvSpPr>
        <p:spPr>
          <a:xfrm>
            <a:off x="731520" y="640080"/>
            <a:ext cx="10698480" cy="1463040"/>
          </a:xfrm>
          <a:prstGeom prst="rect">
            <a:avLst/>
          </a:prstGeom>
          <a:noFill/>
        </p:spPr>
        <p:txBody>
          <a:bodyPr wrap="square" lIns="0" rIns="0" tIns="0" bIns="0" anchor="t">
            <a:noAutofit/>
          </a:bodyPr>
          <a:lstStyle/>
          <a:p>
            <a:pPr algn="l">
              <a:lnSpc>
                <a:spcPct val="105000"/>
              </a:lnSpc>
            </a:pPr>
            <a:r>
              <a:rPr sz="3800" b="1" i="0">
                <a:solidFill>
                  <a:srgbClr val="0B2545"/>
                </a:solidFill>
                <a:latin typeface="Georgia"/>
              </a:rPr>
              <a:t>Two layers, kept deliberately apart</a:t>
            </a:r>
          </a:p>
        </p:txBody>
      </p:sp>
      <p:sp>
        <p:nvSpPr>
          <p:cNvPr id="3" name="Rounded Rectangle 2"/>
          <p:cNvSpPr/>
          <p:nvPr/>
        </p:nvSpPr>
        <p:spPr>
          <a:xfrm>
            <a:off x="731520" y="2148840"/>
            <a:ext cx="5257800" cy="361188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423160"/>
            <a:ext cx="4572000" cy="457200"/>
          </a:xfrm>
          <a:prstGeom prst="rect">
            <a:avLst/>
          </a:prstGeom>
          <a:noFill/>
        </p:spPr>
        <p:txBody>
          <a:bodyPr wrap="square" lIns="0" rIns="0" tIns="0" bIns="0" anchor="t">
            <a:noAutofit/>
          </a:bodyPr>
          <a:lstStyle/>
          <a:p>
            <a:pPr algn="l"/>
            <a:r>
              <a:rPr sz="2800" b="1" i="0">
                <a:solidFill>
                  <a:srgbClr val="0B2545"/>
                </a:solidFill>
                <a:latin typeface="Georgia"/>
              </a:rPr>
              <a:t>Science layer</a:t>
            </a:r>
          </a:p>
        </p:txBody>
      </p:sp>
      <p:sp>
        <p:nvSpPr>
          <p:cNvPr id="5" name="TextBox 4"/>
          <p:cNvSpPr txBox="1"/>
          <p:nvPr/>
        </p:nvSpPr>
        <p:spPr>
          <a:xfrm>
            <a:off x="1097280" y="2971800"/>
            <a:ext cx="4572000" cy="365760"/>
          </a:xfrm>
          <a:prstGeom prst="rect">
            <a:avLst/>
          </a:prstGeom>
          <a:noFill/>
        </p:spPr>
        <p:txBody>
          <a:bodyPr wrap="square" lIns="0" rIns="0" tIns="0" bIns="0" anchor="t">
            <a:noAutofit/>
          </a:bodyPr>
          <a:lstStyle/>
          <a:p>
            <a:pPr algn="l"/>
            <a:r>
              <a:rPr sz="1500" b="1" i="0">
                <a:solidFill>
                  <a:srgbClr val="2E6F9E"/>
                </a:solidFill>
                <a:latin typeface="Helvetica Neue"/>
              </a:rPr>
              <a:t>OBJECTIVE</a:t>
            </a:r>
          </a:p>
        </p:txBody>
      </p:sp>
      <p:sp>
        <p:nvSpPr>
          <p:cNvPr id="6" name="TextBox 5"/>
          <p:cNvSpPr txBox="1"/>
          <p:nvPr/>
        </p:nvSpPr>
        <p:spPr>
          <a:xfrm>
            <a:off x="1097280" y="3520440"/>
            <a:ext cx="4572000" cy="2468880"/>
          </a:xfrm>
          <a:prstGeom prst="rect">
            <a:avLst/>
          </a:prstGeom>
          <a:noFill/>
        </p:spPr>
        <p:txBody>
          <a:bodyPr wrap="square" lIns="0" rIns="0" tIns="0" bIns="0" anchor="t">
            <a:noAutofit/>
          </a:bodyPr>
          <a:lstStyle/>
          <a:p>
            <a:pPr algn="l">
              <a:lnSpc>
                <a:spcPct val="110000"/>
              </a:lnSpc>
              <a:spcAft>
                <a:spcPts val="1100"/>
              </a:spcAft>
            </a:pPr>
            <a:r>
              <a:rPr sz="1700" b="0" i="0">
                <a:solidFill>
                  <a:srgbClr val="0B2545"/>
                </a:solidFill>
                <a:latin typeface="Helvetica Neue"/>
              </a:rPr>
              <a:t>Hong Kong rainfall, 1884–2025: annual peaks, the gaps between them, return periods.</a:t>
            </a:r>
          </a:p>
          <a:p>
            <a:pPr algn="l">
              <a:lnSpc>
                <a:spcPct val="110000"/>
              </a:lnSpc>
              <a:spcAft>
                <a:spcPts val="1100"/>
              </a:spcAft>
            </a:pPr>
            <a:r>
              <a:rPr sz="1700" b="0" i="0">
                <a:solidFill>
                  <a:srgbClr val="0B2545"/>
                </a:solidFill>
                <a:latin typeface="Helvetica Neue"/>
              </a:rPr>
              <a:t>Rhine and alpine rivers, 8 stations: flow duration, recession, the seasonal cycle.</a:t>
            </a:r>
          </a:p>
          <a:p>
            <a:pPr algn="l">
              <a:lnSpc>
                <a:spcPct val="110000"/>
              </a:lnSpc>
              <a:spcAft>
                <a:spcPts val="1100"/>
              </a:spcAft>
            </a:pPr>
            <a:r>
              <a:rPr sz="1700" b="0" i="0">
                <a:solidFill>
                  <a:srgbClr val="0B2545"/>
                </a:solidFill>
                <a:latin typeface="Helvetica Neue"/>
              </a:rPr>
              <a:t>Never changes for artistic reasons.</a:t>
            </a:r>
          </a:p>
        </p:txBody>
      </p:sp>
      <p:sp>
        <p:nvSpPr>
          <p:cNvPr id="7" name="Rounded Rectangle 6"/>
          <p:cNvSpPr/>
          <p:nvPr/>
        </p:nvSpPr>
        <p:spPr>
          <a:xfrm>
            <a:off x="6199632" y="2148840"/>
            <a:ext cx="5257800" cy="3611880"/>
          </a:xfrm>
          <a:prstGeom prst="roundRect">
            <a:avLst>
              <a:gd name="adj" fmla="val 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5392" y="2423160"/>
            <a:ext cx="4572000" cy="457200"/>
          </a:xfrm>
          <a:prstGeom prst="rect">
            <a:avLst/>
          </a:prstGeom>
          <a:noFill/>
        </p:spPr>
        <p:txBody>
          <a:bodyPr wrap="square" lIns="0" rIns="0" tIns="0" bIns="0" anchor="t">
            <a:noAutofit/>
          </a:bodyPr>
          <a:lstStyle/>
          <a:p>
            <a:pPr algn="l"/>
            <a:r>
              <a:rPr sz="2800" b="1" i="0">
                <a:solidFill>
                  <a:srgbClr val="FFFFFF"/>
                </a:solidFill>
                <a:latin typeface="Georgia"/>
              </a:rPr>
              <a:t>Curatorial layer</a:t>
            </a:r>
          </a:p>
        </p:txBody>
      </p:sp>
      <p:sp>
        <p:nvSpPr>
          <p:cNvPr id="9" name="TextBox 8"/>
          <p:cNvSpPr txBox="1"/>
          <p:nvPr/>
        </p:nvSpPr>
        <p:spPr>
          <a:xfrm>
            <a:off x="6565392" y="2971800"/>
            <a:ext cx="4572000" cy="365760"/>
          </a:xfrm>
          <a:prstGeom prst="rect">
            <a:avLst/>
          </a:prstGeom>
          <a:noFill/>
        </p:spPr>
        <p:txBody>
          <a:bodyPr wrap="square" lIns="0" rIns="0" tIns="0" bIns="0" anchor="t">
            <a:noAutofit/>
          </a:bodyPr>
          <a:lstStyle/>
          <a:p>
            <a:pPr algn="l"/>
            <a:r>
              <a:rPr sz="1500" b="1" i="0">
                <a:solidFill>
                  <a:srgbClr val="C9D8E3"/>
                </a:solidFill>
                <a:latin typeface="Helvetica Neue"/>
              </a:rPr>
              <a:t>DESIGNED</a:t>
            </a:r>
          </a:p>
        </p:txBody>
      </p:sp>
      <p:sp>
        <p:nvSpPr>
          <p:cNvPr id="10" name="TextBox 9"/>
          <p:cNvSpPr txBox="1"/>
          <p:nvPr/>
        </p:nvSpPr>
        <p:spPr>
          <a:xfrm>
            <a:off x="6565392" y="3520440"/>
            <a:ext cx="4572000" cy="2468880"/>
          </a:xfrm>
          <a:prstGeom prst="rect">
            <a:avLst/>
          </a:prstGeom>
          <a:noFill/>
        </p:spPr>
        <p:txBody>
          <a:bodyPr wrap="square" lIns="0" rIns="0" tIns="0" bIns="0" anchor="t">
            <a:noAutofit/>
          </a:bodyPr>
          <a:lstStyle/>
          <a:p>
            <a:pPr algn="l">
              <a:lnSpc>
                <a:spcPct val="110000"/>
              </a:lnSpc>
              <a:spcAft>
                <a:spcPts val="1100"/>
              </a:spcAft>
            </a:pPr>
            <a:r>
              <a:rPr sz="1700" b="0" i="0">
                <a:solidFill>
                  <a:srgbClr val="FFFFFF"/>
                </a:solidFill>
                <a:latin typeface="Helvetica Neue"/>
              </a:rPr>
              <a:t>How a drought or a flood should feel.</a:t>
            </a:r>
          </a:p>
          <a:p>
            <a:pPr algn="l">
              <a:lnSpc>
                <a:spcPct val="110000"/>
              </a:lnSpc>
              <a:spcAft>
                <a:spcPts val="1100"/>
              </a:spcAft>
            </a:pPr>
            <a:r>
              <a:rPr sz="1700" b="0" i="0">
                <a:solidFill>
                  <a:srgbClr val="FFFFFF"/>
                </a:solidFill>
                <a:latin typeface="Helvetica Neue"/>
              </a:rPr>
              <a:t>Decided in one place, so it can change without touching the science.</a:t>
            </a:r>
          </a:p>
          <a:p>
            <a:pPr algn="l">
              <a:lnSpc>
                <a:spcPct val="110000"/>
              </a:lnSpc>
              <a:spcAft>
                <a:spcPts val="1100"/>
              </a:spcAft>
            </a:pPr>
            <a:r>
              <a:rPr sz="1700" b="0" i="0">
                <a:solidFill>
                  <a:srgbClr val="FFFFFF"/>
                </a:solidFill>
                <a:latin typeface="Helvetica Neue"/>
              </a:rPr>
              <a:t>Its output: valence and arousal.</a:t>
            </a:r>
          </a:p>
        </p:txBody>
      </p:sp>
      <p:sp>
        <p:nvSpPr>
          <p:cNvPr id="11" name="TextBox 10"/>
          <p:cNvSpPr txBox="1"/>
          <p:nvPr/>
        </p:nvSpPr>
        <p:spPr>
          <a:xfrm>
            <a:off x="731520" y="6419088"/>
            <a:ext cx="7315200" cy="274320"/>
          </a:xfrm>
          <a:prstGeom prst="rect">
            <a:avLst/>
          </a:prstGeom>
          <a:noFill/>
        </p:spPr>
        <p:txBody>
          <a:bodyPr wrap="square" lIns="0" rIns="0" tIns="0" bIns="0" anchor="t">
            <a:noAutofit/>
          </a:bodyPr>
          <a:lstStyle/>
          <a:p>
            <a:pPr algn="l"/>
            <a:r>
              <a:rPr sz="1100" b="0" i="0">
                <a:solidFill>
                  <a:srgbClr val="5C6F7B"/>
                </a:solidFill>
                <a:latin typeface="Helvetica Neue"/>
              </a:rPr>
              <a:t>Noéa  ·  Meeting of Waters, Geneva</a:t>
            </a:r>
          </a:p>
        </p:txBody>
      </p:sp>
      <p:sp>
        <p:nvSpPr>
          <p:cNvPr id="12" name="TextBox 11"/>
          <p:cNvSpPr txBox="1"/>
          <p:nvPr/>
        </p:nvSpPr>
        <p:spPr>
          <a:xfrm>
            <a:off x="10881360" y="6419088"/>
            <a:ext cx="594360" cy="274320"/>
          </a:xfrm>
          <a:prstGeom prst="rect">
            <a:avLst/>
          </a:prstGeom>
          <a:noFill/>
        </p:spPr>
        <p:txBody>
          <a:bodyPr wrap="square" lIns="0" rIns="0" tIns="0" bIns="0" anchor="t">
            <a:noAutofit/>
          </a:bodyPr>
          <a:lstStyle/>
          <a:p>
            <a:pPr algn="r"/>
            <a:r>
              <a:rPr sz="1100" b="0" i="0">
                <a:solidFill>
                  <a:srgbClr val="5C6F7B"/>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9FB"/>
        </a:solidFill>
        <a:effectLst/>
      </p:bgPr>
    </p:bg>
    <p:spTree>
      <p:nvGrpSpPr>
        <p:cNvPr id="1" name=""/>
        <p:cNvGrpSpPr/>
        <p:nvPr/>
      </p:nvGrpSpPr>
      <p:grpSpPr/>
      <p:sp>
        <p:nvSpPr>
          <p:cNvPr id="2" name="TextBox 1"/>
          <p:cNvSpPr txBox="1"/>
          <p:nvPr/>
        </p:nvSpPr>
        <p:spPr>
          <a:xfrm>
            <a:off x="731520" y="640080"/>
            <a:ext cx="10698480" cy="1463040"/>
          </a:xfrm>
          <a:prstGeom prst="rect">
            <a:avLst/>
          </a:prstGeom>
          <a:noFill/>
        </p:spPr>
        <p:txBody>
          <a:bodyPr wrap="square" lIns="0" rIns="0" tIns="0" bIns="0" anchor="t">
            <a:noAutofit/>
          </a:bodyPr>
          <a:lstStyle/>
          <a:p>
            <a:pPr algn="l">
              <a:lnSpc>
                <a:spcPct val="105000"/>
              </a:lnSpc>
            </a:pPr>
            <a:r>
              <a:rPr sz="3800" b="1" i="0">
                <a:solidFill>
                  <a:srgbClr val="0B2545"/>
                </a:solidFill>
                <a:latin typeface="Georgia"/>
              </a:rPr>
              <a:t>Machine learning finds unusual years</a:t>
            </a:r>
          </a:p>
        </p:txBody>
      </p:sp>
      <p:sp>
        <p:nvSpPr>
          <p:cNvPr id="3" name="TextBox 2"/>
          <p:cNvSpPr txBox="1"/>
          <p:nvPr/>
        </p:nvSpPr>
        <p:spPr>
          <a:xfrm>
            <a:off x="731520" y="1417320"/>
            <a:ext cx="10698480" cy="822960"/>
          </a:xfrm>
          <a:prstGeom prst="rect">
            <a:avLst/>
          </a:prstGeom>
          <a:noFill/>
        </p:spPr>
        <p:txBody>
          <a:bodyPr wrap="square" lIns="0" rIns="0" tIns="0" bIns="0" anchor="t">
            <a:noAutofit/>
          </a:bodyPr>
          <a:lstStyle/>
          <a:p>
            <a:pPr algn="l">
              <a:lnSpc>
                <a:spcPct val="110000"/>
              </a:lnSpc>
            </a:pPr>
            <a:r>
              <a:rPr sz="1800" b="0" i="0">
                <a:solidFill>
                  <a:srgbClr val="5C6F7B"/>
                </a:solidFill>
                <a:latin typeface="Helvetica Neue"/>
              </a:rPr>
              <a:t>Its one job so far: for each record, an unsupervised model learns what a typical year looks like, then scores how badly each year fails to fit.</a:t>
            </a:r>
          </a:p>
        </p:txBody>
      </p:sp>
      <p:pic>
        <p:nvPicPr>
          <p:cNvPr id="4" name="Picture 3" descr="anomaly_floods.png"/>
          <p:cNvPicPr>
            <a:picLocks noChangeAspect="1"/>
          </p:cNvPicPr>
          <p:nvPr/>
        </p:nvPicPr>
        <p:blipFill>
          <a:blip r:embed="rId3"/>
          <a:stretch>
            <a:fillRect/>
          </a:stretch>
        </p:blipFill>
        <p:spPr>
          <a:xfrm>
            <a:off x="457200" y="2240280"/>
            <a:ext cx="11274552" cy="3182333"/>
          </a:xfrm>
          <a:prstGeom prst="rect">
            <a:avLst/>
          </a:prstGeom>
        </p:spPr>
      </p:pic>
      <p:sp>
        <p:nvSpPr>
          <p:cNvPr id="5" name="TextBox 4"/>
          <p:cNvSpPr txBox="1"/>
          <p:nvPr/>
        </p:nvSpPr>
        <p:spPr>
          <a:xfrm>
            <a:off x="731520" y="5532120"/>
            <a:ext cx="10698480" cy="365760"/>
          </a:xfrm>
          <a:prstGeom prst="rect">
            <a:avLst/>
          </a:prstGeom>
          <a:noFill/>
        </p:spPr>
        <p:txBody>
          <a:bodyPr wrap="square" lIns="0" rIns="0" tIns="0" bIns="0" anchor="t">
            <a:noAutofit/>
          </a:bodyPr>
          <a:lstStyle/>
          <a:p>
            <a:pPr algn="l"/>
            <a:r>
              <a:rPr sz="1700" b="1" i="0">
                <a:solidFill>
                  <a:srgbClr val="0B2545"/>
                </a:solidFill>
                <a:latin typeface="Helvetica Neue"/>
              </a:rPr>
              <a:t>The highlighted bar is each station's highest-scoring year. </a:t>
            </a:r>
            <a:r>
              <a:rPr sz="1700" b="0" i="0">
                <a:solidFill>
                  <a:srgbClr val="0B2545"/>
                </a:solidFill>
                <a:latin typeface="Helvetica Neue"/>
              </a:rPr>
              <a:t>The model was never told these events existed.</a:t>
            </a:r>
          </a:p>
        </p:txBody>
      </p:sp>
      <p:sp>
        <p:nvSpPr>
          <p:cNvPr id="6" name="TextBox 5"/>
          <p:cNvSpPr txBox="1"/>
          <p:nvPr/>
        </p:nvSpPr>
        <p:spPr>
          <a:xfrm>
            <a:off x="731520" y="5943600"/>
            <a:ext cx="10789920" cy="457200"/>
          </a:xfrm>
          <a:prstGeom prst="rect">
            <a:avLst/>
          </a:prstGeom>
          <a:noFill/>
        </p:spPr>
        <p:txBody>
          <a:bodyPr wrap="square" lIns="0" rIns="0" tIns="0" bIns="0" anchor="t">
            <a:noAutofit/>
          </a:bodyPr>
          <a:lstStyle/>
          <a:p>
            <a:pPr algn="l">
              <a:lnSpc>
                <a:spcPct val="105000"/>
              </a:lnSpc>
            </a:pPr>
            <a:r>
              <a:rPr sz="1100" b="0" i="0">
                <a:solidFill>
                  <a:srgbClr val="5C6F7B"/>
                </a:solidFill>
                <a:latin typeface="Helvetica Neue"/>
              </a:rPr>
              <a:t>Method: PCA reconstruction error, fit separately per station on its own years. Events: Aug 2005 Alpine floods (22–23 Aug), May 1999 Swiss floods (Thun, 15 May), Christmas 1993 Rhine flood (Köln, 24 Dec).</a:t>
            </a:r>
          </a:p>
        </p:txBody>
      </p:sp>
      <p:sp>
        <p:nvSpPr>
          <p:cNvPr id="7" name="TextBox 6"/>
          <p:cNvSpPr txBox="1"/>
          <p:nvPr/>
        </p:nvSpPr>
        <p:spPr>
          <a:xfrm>
            <a:off x="731520" y="6419088"/>
            <a:ext cx="7315200" cy="274320"/>
          </a:xfrm>
          <a:prstGeom prst="rect">
            <a:avLst/>
          </a:prstGeom>
          <a:noFill/>
        </p:spPr>
        <p:txBody>
          <a:bodyPr wrap="square" lIns="0" rIns="0" tIns="0" bIns="0" anchor="t">
            <a:noAutofit/>
          </a:bodyPr>
          <a:lstStyle/>
          <a:p>
            <a:pPr algn="l"/>
            <a:r>
              <a:rPr sz="1100" b="0" i="0">
                <a:solidFill>
                  <a:srgbClr val="5C6F7B"/>
                </a:solidFill>
                <a:latin typeface="Helvetica Neue"/>
              </a:rPr>
              <a:t>Noéa  ·  Meeting of Waters, Geneva</a:t>
            </a:r>
          </a:p>
        </p:txBody>
      </p:sp>
      <p:sp>
        <p:nvSpPr>
          <p:cNvPr id="8" name="TextBox 7"/>
          <p:cNvSpPr txBox="1"/>
          <p:nvPr/>
        </p:nvSpPr>
        <p:spPr>
          <a:xfrm>
            <a:off x="10881360" y="6419088"/>
            <a:ext cx="594360" cy="274320"/>
          </a:xfrm>
          <a:prstGeom prst="rect">
            <a:avLst/>
          </a:prstGeom>
          <a:noFill/>
        </p:spPr>
        <p:txBody>
          <a:bodyPr wrap="square" lIns="0" rIns="0" tIns="0" bIns="0" anchor="t">
            <a:noAutofit/>
          </a:bodyPr>
          <a:lstStyle/>
          <a:p>
            <a:pPr algn="r"/>
            <a:r>
              <a:rPr sz="1100" b="0" i="0">
                <a:solidFill>
                  <a:srgbClr val="5C6F7B"/>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9FB"/>
        </a:solidFill>
        <a:effectLst/>
      </p:bgPr>
    </p:bg>
    <p:spTree>
      <p:nvGrpSpPr>
        <p:cNvPr id="1" name=""/>
        <p:cNvGrpSpPr/>
        <p:nvPr/>
      </p:nvGrpSpPr>
      <p:grpSpPr/>
      <p:sp>
        <p:nvSpPr>
          <p:cNvPr id="2" name="TextBox 1"/>
          <p:cNvSpPr txBox="1"/>
          <p:nvPr/>
        </p:nvSpPr>
        <p:spPr>
          <a:xfrm>
            <a:off x="731520" y="640080"/>
            <a:ext cx="10698480" cy="1463040"/>
          </a:xfrm>
          <a:prstGeom prst="rect">
            <a:avLst/>
          </a:prstGeom>
          <a:noFill/>
        </p:spPr>
        <p:txBody>
          <a:bodyPr wrap="square" lIns="0" rIns="0" tIns="0" bIns="0" anchor="t">
            <a:noAutofit/>
          </a:bodyPr>
          <a:lstStyle/>
          <a:p>
            <a:pPr algn="l">
              <a:lnSpc>
                <a:spcPct val="105000"/>
              </a:lnSpc>
            </a:pPr>
            <a:r>
              <a:rPr sz="3800" b="1" i="0">
                <a:solidFill>
                  <a:srgbClr val="0B2545"/>
                </a:solidFill>
                <a:latin typeface="Georgia"/>
              </a:rPr>
              <a:t>Built to travel</a:t>
            </a:r>
          </a:p>
        </p:txBody>
      </p:sp>
      <p:sp>
        <p:nvSpPr>
          <p:cNvPr id="3" name="TextBox 2"/>
          <p:cNvSpPr txBox="1"/>
          <p:nvPr/>
        </p:nvSpPr>
        <p:spPr>
          <a:xfrm>
            <a:off x="731520" y="1417320"/>
            <a:ext cx="10698480" cy="822960"/>
          </a:xfrm>
          <a:prstGeom prst="rect">
            <a:avLst/>
          </a:prstGeom>
          <a:noFill/>
        </p:spPr>
        <p:txBody>
          <a:bodyPr wrap="square" lIns="0" rIns="0" tIns="0" bIns="0" anchor="t">
            <a:noAutofit/>
          </a:bodyPr>
          <a:lstStyle/>
          <a:p>
            <a:pPr algn="l">
              <a:lnSpc>
                <a:spcPct val="110000"/>
              </a:lnSpc>
            </a:pPr>
            <a:r>
              <a:rPr sz="2000" b="0" i="0">
                <a:solidFill>
                  <a:srgbClr val="5C6F7B"/>
                </a:solidFill>
                <a:latin typeface="Helvetica Neue"/>
              </a:rPr>
              <a:t>Each record fits its own model on its own history. Another rainfall or river record can go through the same pipeline.</a:t>
            </a:r>
          </a:p>
        </p:txBody>
      </p:sp>
      <p:sp>
        <p:nvSpPr>
          <p:cNvPr id="4" name="Rounded Rectangle 3"/>
          <p:cNvSpPr/>
          <p:nvPr/>
        </p:nvSpPr>
        <p:spPr>
          <a:xfrm>
            <a:off x="731520" y="2514600"/>
            <a:ext cx="3429000" cy="288036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788920"/>
            <a:ext cx="2834640" cy="822960"/>
          </a:xfrm>
          <a:prstGeom prst="rect">
            <a:avLst/>
          </a:prstGeom>
          <a:noFill/>
        </p:spPr>
        <p:txBody>
          <a:bodyPr wrap="square" lIns="0" rIns="0" tIns="0" bIns="0" anchor="t">
            <a:noAutofit/>
          </a:bodyPr>
          <a:lstStyle/>
          <a:p>
            <a:pPr algn="l">
              <a:lnSpc>
                <a:spcPct val="100000"/>
              </a:lnSpc>
            </a:pPr>
            <a:r>
              <a:rPr sz="2400" b="1" i="0">
                <a:solidFill>
                  <a:srgbClr val="0B2545"/>
                </a:solidFill>
                <a:latin typeface="Georgia"/>
              </a:rPr>
              <a:t>Hong Kong rainfall</a:t>
            </a:r>
          </a:p>
        </p:txBody>
      </p:sp>
      <p:sp>
        <p:nvSpPr>
          <p:cNvPr id="6" name="TextBox 5"/>
          <p:cNvSpPr txBox="1"/>
          <p:nvPr/>
        </p:nvSpPr>
        <p:spPr>
          <a:xfrm>
            <a:off x="1051560" y="3657600"/>
            <a:ext cx="2834640" cy="365760"/>
          </a:xfrm>
          <a:prstGeom prst="rect">
            <a:avLst/>
          </a:prstGeom>
          <a:noFill/>
        </p:spPr>
        <p:txBody>
          <a:bodyPr wrap="square" lIns="0" rIns="0" tIns="0" bIns="0" anchor="t">
            <a:noAutofit/>
          </a:bodyPr>
          <a:lstStyle/>
          <a:p>
            <a:pPr algn="l"/>
            <a:r>
              <a:rPr sz="1400" b="1" i="0">
                <a:solidFill>
                  <a:srgbClr val="2E6F9E"/>
                </a:solidFill>
                <a:latin typeface="Helvetica Neue"/>
              </a:rPr>
              <a:t>HONG KONG OBSERVATORY</a:t>
            </a:r>
          </a:p>
        </p:txBody>
      </p:sp>
      <p:sp>
        <p:nvSpPr>
          <p:cNvPr id="7" name="TextBox 6"/>
          <p:cNvSpPr txBox="1"/>
          <p:nvPr/>
        </p:nvSpPr>
        <p:spPr>
          <a:xfrm>
            <a:off x="1051560" y="4160520"/>
            <a:ext cx="2834640" cy="1463040"/>
          </a:xfrm>
          <a:prstGeom prst="rect">
            <a:avLst/>
          </a:prstGeom>
          <a:noFill/>
        </p:spPr>
        <p:txBody>
          <a:bodyPr wrap="square" lIns="0" rIns="0" tIns="0" bIns="0" anchor="t">
            <a:noAutofit/>
          </a:bodyPr>
          <a:lstStyle/>
          <a:p>
            <a:pPr algn="l">
              <a:lnSpc>
                <a:spcPct val="110000"/>
              </a:lnSpc>
              <a:spcAft>
                <a:spcPts val="600"/>
              </a:spcAft>
            </a:pPr>
            <a:r>
              <a:rPr sz="1600" b="0" i="0">
                <a:solidFill>
                  <a:srgbClr val="0B2545"/>
                </a:solidFill>
                <a:latin typeface="Helvetica Neue"/>
              </a:rPr>
              <a:t>Daily, 1884–2025</a:t>
            </a:r>
          </a:p>
          <a:p>
            <a:pPr algn="l">
              <a:lnSpc>
                <a:spcPct val="110000"/>
              </a:lnSpc>
              <a:spcAft>
                <a:spcPts val="600"/>
              </a:spcAft>
            </a:pPr>
            <a:r>
              <a:rPr sz="1600" b="0" i="0">
                <a:solidFill>
                  <a:srgbClr val="0B2545"/>
                </a:solidFill>
                <a:latin typeface="Helvetica Neue"/>
              </a:rPr>
              <a:t>One model, fit on 134 years</a:t>
            </a:r>
          </a:p>
        </p:txBody>
      </p:sp>
      <p:sp>
        <p:nvSpPr>
          <p:cNvPr id="8" name="Rounded Rectangle 7"/>
          <p:cNvSpPr/>
          <p:nvPr/>
        </p:nvSpPr>
        <p:spPr>
          <a:xfrm>
            <a:off x="4379976" y="2514600"/>
            <a:ext cx="3429000" cy="2880360"/>
          </a:xfrm>
          <a:prstGeom prst="roundRect">
            <a:avLst>
              <a:gd name="adj" fmla="val 5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0016" y="2788920"/>
            <a:ext cx="2834640" cy="822960"/>
          </a:xfrm>
          <a:prstGeom prst="rect">
            <a:avLst/>
          </a:prstGeom>
          <a:noFill/>
        </p:spPr>
        <p:txBody>
          <a:bodyPr wrap="square" lIns="0" rIns="0" tIns="0" bIns="0" anchor="t">
            <a:noAutofit/>
          </a:bodyPr>
          <a:lstStyle/>
          <a:p>
            <a:pPr algn="l">
              <a:lnSpc>
                <a:spcPct val="100000"/>
              </a:lnSpc>
            </a:pPr>
            <a:r>
              <a:rPr sz="2400" b="1" i="0">
                <a:solidFill>
                  <a:srgbClr val="0B2545"/>
                </a:solidFill>
                <a:latin typeface="Georgia"/>
              </a:rPr>
              <a:t>Rhine and alpine rivers</a:t>
            </a:r>
          </a:p>
        </p:txBody>
      </p:sp>
      <p:sp>
        <p:nvSpPr>
          <p:cNvPr id="10" name="TextBox 9"/>
          <p:cNvSpPr txBox="1"/>
          <p:nvPr/>
        </p:nvSpPr>
        <p:spPr>
          <a:xfrm>
            <a:off x="4700016" y="3657600"/>
            <a:ext cx="2834640" cy="365760"/>
          </a:xfrm>
          <a:prstGeom prst="rect">
            <a:avLst/>
          </a:prstGeom>
          <a:noFill/>
        </p:spPr>
        <p:txBody>
          <a:bodyPr wrap="square" lIns="0" rIns="0" tIns="0" bIns="0" anchor="t">
            <a:noAutofit/>
          </a:bodyPr>
          <a:lstStyle/>
          <a:p>
            <a:pPr algn="l"/>
            <a:r>
              <a:rPr sz="1400" b="1" i="0">
                <a:solidFill>
                  <a:srgbClr val="2E6F9E"/>
                </a:solidFill>
                <a:latin typeface="Helvetica Neue"/>
              </a:rPr>
              <a:t>GRDC  ·  FOEN</a:t>
            </a:r>
          </a:p>
        </p:txBody>
      </p:sp>
      <p:sp>
        <p:nvSpPr>
          <p:cNvPr id="11" name="TextBox 10"/>
          <p:cNvSpPr txBox="1"/>
          <p:nvPr/>
        </p:nvSpPr>
        <p:spPr>
          <a:xfrm>
            <a:off x="4700016" y="4160520"/>
            <a:ext cx="2834640" cy="1463040"/>
          </a:xfrm>
          <a:prstGeom prst="rect">
            <a:avLst/>
          </a:prstGeom>
          <a:noFill/>
        </p:spPr>
        <p:txBody>
          <a:bodyPr wrap="square" lIns="0" rIns="0" tIns="0" bIns="0" anchor="t">
            <a:noAutofit/>
          </a:bodyPr>
          <a:lstStyle/>
          <a:p>
            <a:pPr algn="l">
              <a:lnSpc>
                <a:spcPct val="110000"/>
              </a:lnSpc>
              <a:spcAft>
                <a:spcPts val="600"/>
              </a:spcAft>
            </a:pPr>
            <a:r>
              <a:rPr sz="1600" b="0" i="0">
                <a:solidFill>
                  <a:srgbClr val="0B2545"/>
                </a:solidFill>
                <a:latin typeface="Helvetica Neue"/>
              </a:rPr>
              <a:t>Daily, 8 stations</a:t>
            </a:r>
          </a:p>
          <a:p>
            <a:pPr algn="l">
              <a:lnSpc>
                <a:spcPct val="110000"/>
              </a:lnSpc>
              <a:spcAft>
                <a:spcPts val="600"/>
              </a:spcAft>
            </a:pPr>
            <a:r>
              <a:rPr sz="1600" b="0" i="0">
                <a:solidFill>
                  <a:srgbClr val="0B2545"/>
                </a:solidFill>
                <a:latin typeface="Helvetica Neue"/>
              </a:rPr>
              <a:t>One model per station, 62–208 years each</a:t>
            </a:r>
          </a:p>
        </p:txBody>
      </p:sp>
      <p:sp>
        <p:nvSpPr>
          <p:cNvPr id="12" name="Rounded Rectangle 11"/>
          <p:cNvSpPr/>
          <p:nvPr/>
        </p:nvSpPr>
        <p:spPr>
          <a:xfrm>
            <a:off x="8028431" y="2514600"/>
            <a:ext cx="3429000" cy="2880360"/>
          </a:xfrm>
          <a:prstGeom prst="roundRect">
            <a:avLst>
              <a:gd name="adj" fmla="val 5000"/>
            </a:avLst>
          </a:prstGeom>
          <a:noFill/>
          <a:ln w="22225">
            <a:solidFill>
              <a:srgbClr val="2E6F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1" y="2788920"/>
            <a:ext cx="2834640" cy="822960"/>
          </a:xfrm>
          <a:prstGeom prst="rect">
            <a:avLst/>
          </a:prstGeom>
          <a:noFill/>
        </p:spPr>
        <p:txBody>
          <a:bodyPr wrap="square" lIns="0" rIns="0" tIns="0" bIns="0" anchor="t">
            <a:noAutofit/>
          </a:bodyPr>
          <a:lstStyle/>
          <a:p>
            <a:pPr algn="l">
              <a:lnSpc>
                <a:spcPct val="100000"/>
              </a:lnSpc>
            </a:pPr>
            <a:r>
              <a:rPr sz="2400" b="1" i="0">
                <a:solidFill>
                  <a:srgbClr val="0B2545"/>
                </a:solidFill>
                <a:latin typeface="Georgia"/>
              </a:rPr>
              <a:t>The next record</a:t>
            </a:r>
          </a:p>
        </p:txBody>
      </p:sp>
      <p:sp>
        <p:nvSpPr>
          <p:cNvPr id="14" name="TextBox 13"/>
          <p:cNvSpPr txBox="1"/>
          <p:nvPr/>
        </p:nvSpPr>
        <p:spPr>
          <a:xfrm>
            <a:off x="8348471" y="3657600"/>
            <a:ext cx="2834640" cy="365760"/>
          </a:xfrm>
          <a:prstGeom prst="rect">
            <a:avLst/>
          </a:prstGeom>
          <a:noFill/>
        </p:spPr>
        <p:txBody>
          <a:bodyPr wrap="square" lIns="0" rIns="0" tIns="0" bIns="0" anchor="t">
            <a:noAutofit/>
          </a:bodyPr>
          <a:lstStyle/>
          <a:p>
            <a:pPr algn="l"/>
            <a:r>
              <a:rPr sz="1400" b="1" i="0">
                <a:solidFill>
                  <a:srgbClr val="2E6F9E"/>
                </a:solidFill>
                <a:latin typeface="Helvetica Neue"/>
              </a:rPr>
              <a:t>NOT YET RUN</a:t>
            </a:r>
          </a:p>
        </p:txBody>
      </p:sp>
      <p:sp>
        <p:nvSpPr>
          <p:cNvPr id="15" name="TextBox 14"/>
          <p:cNvSpPr txBox="1"/>
          <p:nvPr/>
        </p:nvSpPr>
        <p:spPr>
          <a:xfrm>
            <a:off x="8348471" y="4160520"/>
            <a:ext cx="2834640" cy="1463040"/>
          </a:xfrm>
          <a:prstGeom prst="rect">
            <a:avLst/>
          </a:prstGeom>
          <a:noFill/>
        </p:spPr>
        <p:txBody>
          <a:bodyPr wrap="square" lIns="0" rIns="0" tIns="0" bIns="0" anchor="t">
            <a:noAutofit/>
          </a:bodyPr>
          <a:lstStyle/>
          <a:p>
            <a:pPr algn="l">
              <a:lnSpc>
                <a:spcPct val="110000"/>
              </a:lnSpc>
              <a:spcAft>
                <a:spcPts val="600"/>
              </a:spcAft>
            </a:pPr>
            <a:r>
              <a:rPr sz="1600" b="0" i="0">
                <a:solidFill>
                  <a:srgbClr val="0B2545"/>
                </a:solidFill>
                <a:latin typeface="Helvetica Neue"/>
              </a:rPr>
              <a:t>Another long rainfall or river series.</a:t>
            </a:r>
          </a:p>
          <a:p>
            <a:pPr algn="l">
              <a:lnSpc>
                <a:spcPct val="110000"/>
              </a:lnSpc>
              <a:spcAft>
                <a:spcPts val="600"/>
              </a:spcAft>
            </a:pPr>
            <a:r>
              <a:rPr sz="1600" b="0" i="0">
                <a:solidFill>
                  <a:srgbClr val="0B2545"/>
                </a:solidFill>
                <a:latin typeface="Helvetica Neue"/>
              </a:rPr>
              <a:t>Tested on two records so far.</a:t>
            </a:r>
          </a:p>
        </p:txBody>
      </p:sp>
      <p:sp>
        <p:nvSpPr>
          <p:cNvPr id="16" name="TextBox 15"/>
          <p:cNvSpPr txBox="1"/>
          <p:nvPr/>
        </p:nvSpPr>
        <p:spPr>
          <a:xfrm>
            <a:off x="731520" y="6419088"/>
            <a:ext cx="7315200" cy="274320"/>
          </a:xfrm>
          <a:prstGeom prst="rect">
            <a:avLst/>
          </a:prstGeom>
          <a:noFill/>
        </p:spPr>
        <p:txBody>
          <a:bodyPr wrap="square" lIns="0" rIns="0" tIns="0" bIns="0" anchor="t">
            <a:noAutofit/>
          </a:bodyPr>
          <a:lstStyle/>
          <a:p>
            <a:pPr algn="l"/>
            <a:r>
              <a:rPr sz="1100" b="0" i="0">
                <a:solidFill>
                  <a:srgbClr val="5C6F7B"/>
                </a:solidFill>
                <a:latin typeface="Helvetica Neue"/>
              </a:rPr>
              <a:t>Noéa  ·  Meeting of Waters, Geneva</a:t>
            </a:r>
          </a:p>
        </p:txBody>
      </p:sp>
      <p:sp>
        <p:nvSpPr>
          <p:cNvPr id="17" name="TextBox 16"/>
          <p:cNvSpPr txBox="1"/>
          <p:nvPr/>
        </p:nvSpPr>
        <p:spPr>
          <a:xfrm>
            <a:off x="10881360" y="6419088"/>
            <a:ext cx="594360" cy="274320"/>
          </a:xfrm>
          <a:prstGeom prst="rect">
            <a:avLst/>
          </a:prstGeom>
          <a:noFill/>
        </p:spPr>
        <p:txBody>
          <a:bodyPr wrap="square" lIns="0" rIns="0" tIns="0" bIns="0" anchor="t">
            <a:noAutofit/>
          </a:bodyPr>
          <a:lstStyle/>
          <a:p>
            <a:pPr algn="r"/>
            <a:r>
              <a:rPr sz="1100" b="0" i="0">
                <a:solidFill>
                  <a:srgbClr val="5C6F7B"/>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9FB"/>
        </a:solidFill>
        <a:effectLst/>
      </p:bgPr>
    </p:bg>
    <p:spTree>
      <p:nvGrpSpPr>
        <p:cNvPr id="1" name=""/>
        <p:cNvGrpSpPr/>
        <p:nvPr/>
      </p:nvGrpSpPr>
      <p:grpSpPr/>
      <p:sp>
        <p:nvSpPr>
          <p:cNvPr id="2" name="TextBox 1"/>
          <p:cNvSpPr txBox="1"/>
          <p:nvPr/>
        </p:nvSpPr>
        <p:spPr>
          <a:xfrm>
            <a:off x="731520" y="640080"/>
            <a:ext cx="10698480" cy="1463040"/>
          </a:xfrm>
          <a:prstGeom prst="rect">
            <a:avLst/>
          </a:prstGeom>
          <a:noFill/>
        </p:spPr>
        <p:txBody>
          <a:bodyPr wrap="square" lIns="0" rIns="0" tIns="0" bIns="0" anchor="t">
            <a:noAutofit/>
          </a:bodyPr>
          <a:lstStyle/>
          <a:p>
            <a:pPr algn="l">
              <a:lnSpc>
                <a:spcPct val="105000"/>
              </a:lnSpc>
            </a:pPr>
            <a:r>
              <a:rPr sz="3800" b="1" i="0">
                <a:solidFill>
                  <a:srgbClr val="0B2545"/>
                </a:solidFill>
                <a:latin typeface="Georgia"/>
              </a:rPr>
              <a:t>What it doesn't do yet</a:t>
            </a:r>
          </a:p>
        </p:txBody>
      </p:sp>
      <p:sp>
        <p:nvSpPr>
          <p:cNvPr id="3" name="TextBox 2"/>
          <p:cNvSpPr txBox="1"/>
          <p:nvPr/>
        </p:nvSpPr>
        <p:spPr>
          <a:xfrm>
            <a:off x="731520" y="1737360"/>
            <a:ext cx="731520" cy="731520"/>
          </a:xfrm>
          <a:prstGeom prst="rect">
            <a:avLst/>
          </a:prstGeom>
          <a:noFill/>
        </p:spPr>
        <p:txBody>
          <a:bodyPr wrap="square" lIns="0" rIns="0" tIns="0" bIns="0" anchor="t">
            <a:noAutofit/>
          </a:bodyPr>
          <a:lstStyle/>
          <a:p>
            <a:pPr algn="l"/>
            <a:r>
              <a:rPr sz="4000" b="1" i="0">
                <a:solidFill>
                  <a:srgbClr val="2E6F9E"/>
                </a:solidFill>
                <a:latin typeface="Georgia"/>
              </a:rPr>
              <a:t>1</a:t>
            </a:r>
          </a:p>
        </p:txBody>
      </p:sp>
      <p:sp>
        <p:nvSpPr>
          <p:cNvPr id="4" name="TextBox 3"/>
          <p:cNvSpPr txBox="1"/>
          <p:nvPr/>
        </p:nvSpPr>
        <p:spPr>
          <a:xfrm>
            <a:off x="1508760" y="1783080"/>
            <a:ext cx="9875520" cy="1005840"/>
          </a:xfrm>
          <a:prstGeom prst="rect">
            <a:avLst/>
          </a:prstGeom>
          <a:noFill/>
        </p:spPr>
        <p:txBody>
          <a:bodyPr wrap="square" lIns="0" rIns="0" tIns="0" bIns="0" anchor="t">
            <a:noAutofit/>
          </a:bodyPr>
          <a:lstStyle/>
          <a:p>
            <a:pPr algn="l">
              <a:lnSpc>
                <a:spcPct val="105000"/>
              </a:lnSpc>
              <a:spcAft>
                <a:spcPts val="300"/>
              </a:spcAft>
            </a:pPr>
            <a:r>
              <a:rPr sz="2200" b="1" i="0">
                <a:solidFill>
                  <a:srgbClr val="0B2545"/>
                </a:solidFill>
                <a:latin typeface="Helvetica Neue"/>
              </a:rPr>
              <a:t>It misses droughts.</a:t>
            </a:r>
          </a:p>
          <a:p>
            <a:pPr algn="l">
              <a:lnSpc>
                <a:spcPct val="110000"/>
              </a:lnSpc>
            </a:pPr>
            <a:r>
              <a:rPr sz="1700" b="0" i="0">
                <a:solidFill>
                  <a:srgbClr val="5C6F7B"/>
                </a:solidFill>
                <a:latin typeface="Helvetica Neue"/>
              </a:rPr>
              <a:t>The model flags unusual combinations of features, not extremes along the wet–dry axis.</a:t>
            </a:r>
          </a:p>
        </p:txBody>
      </p:sp>
      <p:sp>
        <p:nvSpPr>
          <p:cNvPr id="5" name="TextBox 4"/>
          <p:cNvSpPr txBox="1"/>
          <p:nvPr/>
        </p:nvSpPr>
        <p:spPr>
          <a:xfrm>
            <a:off x="731520" y="2834639"/>
            <a:ext cx="731520" cy="731520"/>
          </a:xfrm>
          <a:prstGeom prst="rect">
            <a:avLst/>
          </a:prstGeom>
          <a:noFill/>
        </p:spPr>
        <p:txBody>
          <a:bodyPr wrap="square" lIns="0" rIns="0" tIns="0" bIns="0" anchor="t">
            <a:noAutofit/>
          </a:bodyPr>
          <a:lstStyle/>
          <a:p>
            <a:pPr algn="l"/>
            <a:r>
              <a:rPr sz="4000" b="1" i="0">
                <a:solidFill>
                  <a:srgbClr val="2E6F9E"/>
                </a:solidFill>
                <a:latin typeface="Georgia"/>
              </a:rPr>
              <a:t>2</a:t>
            </a:r>
          </a:p>
        </p:txBody>
      </p:sp>
      <p:sp>
        <p:nvSpPr>
          <p:cNvPr id="6" name="TextBox 5"/>
          <p:cNvSpPr txBox="1"/>
          <p:nvPr/>
        </p:nvSpPr>
        <p:spPr>
          <a:xfrm>
            <a:off x="1508760" y="2880359"/>
            <a:ext cx="9875520" cy="1005840"/>
          </a:xfrm>
          <a:prstGeom prst="rect">
            <a:avLst/>
          </a:prstGeom>
          <a:noFill/>
        </p:spPr>
        <p:txBody>
          <a:bodyPr wrap="square" lIns="0" rIns="0" tIns="0" bIns="0" anchor="t">
            <a:noAutofit/>
          </a:bodyPr>
          <a:lstStyle/>
          <a:p>
            <a:pPr algn="l">
              <a:lnSpc>
                <a:spcPct val="105000"/>
              </a:lnSpc>
              <a:spcAft>
                <a:spcPts val="300"/>
              </a:spcAft>
            </a:pPr>
            <a:r>
              <a:rPr sz="2200" b="1" i="0">
                <a:solidFill>
                  <a:srgbClr val="0B2545"/>
                </a:solidFill>
                <a:latin typeface="Helvetica Neue"/>
              </a:rPr>
              <a:t>The step from anomaly to emotion is designed by hand.</a:t>
            </a:r>
          </a:p>
          <a:p>
            <a:pPr algn="l">
              <a:lnSpc>
                <a:spcPct val="110000"/>
              </a:lnSpc>
            </a:pPr>
            <a:r>
              <a:rPr sz="1700" b="0" i="0">
                <a:solidFill>
                  <a:srgbClr val="5C6F7B"/>
                </a:solidFill>
                <a:latin typeface="Helvetica Neue"/>
              </a:rPr>
              <a:t>It is not yet learned from people.</a:t>
            </a:r>
          </a:p>
        </p:txBody>
      </p:sp>
      <p:sp>
        <p:nvSpPr>
          <p:cNvPr id="7" name="TextBox 6"/>
          <p:cNvSpPr txBox="1"/>
          <p:nvPr/>
        </p:nvSpPr>
        <p:spPr>
          <a:xfrm>
            <a:off x="731520" y="3931920"/>
            <a:ext cx="731520" cy="731520"/>
          </a:xfrm>
          <a:prstGeom prst="rect">
            <a:avLst/>
          </a:prstGeom>
          <a:noFill/>
        </p:spPr>
        <p:txBody>
          <a:bodyPr wrap="square" lIns="0" rIns="0" tIns="0" bIns="0" anchor="t">
            <a:noAutofit/>
          </a:bodyPr>
          <a:lstStyle/>
          <a:p>
            <a:pPr algn="l"/>
            <a:r>
              <a:rPr sz="4000" b="1" i="0">
                <a:solidFill>
                  <a:srgbClr val="2E6F9E"/>
                </a:solidFill>
                <a:latin typeface="Georgia"/>
              </a:rPr>
              <a:t>3</a:t>
            </a:r>
          </a:p>
        </p:txBody>
      </p:sp>
      <p:sp>
        <p:nvSpPr>
          <p:cNvPr id="8" name="TextBox 7"/>
          <p:cNvSpPr txBox="1"/>
          <p:nvPr/>
        </p:nvSpPr>
        <p:spPr>
          <a:xfrm>
            <a:off x="1508760" y="3977639"/>
            <a:ext cx="9875520" cy="1005840"/>
          </a:xfrm>
          <a:prstGeom prst="rect">
            <a:avLst/>
          </a:prstGeom>
          <a:noFill/>
        </p:spPr>
        <p:txBody>
          <a:bodyPr wrap="square" lIns="0" rIns="0" tIns="0" bIns="0" anchor="t">
            <a:noAutofit/>
          </a:bodyPr>
          <a:lstStyle/>
          <a:p>
            <a:pPr algn="l">
              <a:lnSpc>
                <a:spcPct val="105000"/>
              </a:lnSpc>
              <a:spcAft>
                <a:spcPts val="300"/>
              </a:spcAft>
            </a:pPr>
            <a:r>
              <a:rPr sz="2200" b="1" i="0">
                <a:solidFill>
                  <a:srgbClr val="0B2545"/>
                </a:solidFill>
                <a:latin typeface="Helvetica Neue"/>
              </a:rPr>
              <a:t>Nobody has tested whether viewers feel what it intends.</a:t>
            </a:r>
          </a:p>
        </p:txBody>
      </p:sp>
      <p:sp>
        <p:nvSpPr>
          <p:cNvPr id="9" name="Rounded Rectangle 8"/>
          <p:cNvSpPr/>
          <p:nvPr/>
        </p:nvSpPr>
        <p:spPr>
          <a:xfrm>
            <a:off x="731520" y="5166360"/>
            <a:ext cx="10744200" cy="960120"/>
          </a:xfrm>
          <a:prstGeom prst="roundRect">
            <a:avLst>
              <a:gd name="adj" fmla="val 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166360"/>
            <a:ext cx="10058400" cy="960120"/>
          </a:xfrm>
          <a:prstGeom prst="rect">
            <a:avLst/>
          </a:prstGeom>
          <a:noFill/>
        </p:spPr>
        <p:txBody>
          <a:bodyPr wrap="square" lIns="0" rIns="0" tIns="0" bIns="0" anchor="ctr">
            <a:noAutofit/>
          </a:bodyPr>
          <a:lstStyle/>
          <a:p>
            <a:pPr algn="l">
              <a:lnSpc>
                <a:spcPct val="110000"/>
              </a:lnSpc>
            </a:pPr>
            <a:r>
              <a:rPr sz="2000" b="1" i="0">
                <a:solidFill>
                  <a:srgbClr val="C9D8E3"/>
                </a:solidFill>
                <a:latin typeface="Helvetica Neue"/>
              </a:rPr>
              <a:t>Next: </a:t>
            </a:r>
            <a:r>
              <a:rPr sz="2000" b="0" i="0">
                <a:solidFill>
                  <a:srgbClr val="FFFFFF"/>
                </a:solidFill>
                <a:latin typeface="Helvetica Neue"/>
              </a:rPr>
              <a:t>learn the mapping from human responses, and test it with the people who make water decisions.</a:t>
            </a:r>
          </a:p>
        </p:txBody>
      </p:sp>
      <p:sp>
        <p:nvSpPr>
          <p:cNvPr id="11" name="TextBox 10"/>
          <p:cNvSpPr txBox="1"/>
          <p:nvPr/>
        </p:nvSpPr>
        <p:spPr>
          <a:xfrm>
            <a:off x="731520" y="6355080"/>
            <a:ext cx="7315200" cy="274320"/>
          </a:xfrm>
          <a:prstGeom prst="rect">
            <a:avLst/>
          </a:prstGeom>
          <a:noFill/>
        </p:spPr>
        <p:txBody>
          <a:bodyPr wrap="square" lIns="0" rIns="0" tIns="0" bIns="0" anchor="t">
            <a:noAutofit/>
          </a:bodyPr>
          <a:lstStyle/>
          <a:p>
            <a:pPr algn="l"/>
            <a:r>
              <a:rPr sz="1200" b="1" i="0">
                <a:solidFill>
                  <a:srgbClr val="2E6F9E"/>
                </a:solidFill>
                <a:latin typeface="Helvetica Neue"/>
              </a:rPr>
              <a:t>github.com/qintheory/noea</a:t>
            </a:r>
          </a:p>
        </p:txBody>
      </p:sp>
      <p:sp>
        <p:nvSpPr>
          <p:cNvPr id="12" name="TextBox 11"/>
          <p:cNvSpPr txBox="1"/>
          <p:nvPr/>
        </p:nvSpPr>
        <p:spPr>
          <a:xfrm>
            <a:off x="10881360" y="6419088"/>
            <a:ext cx="594360" cy="274320"/>
          </a:xfrm>
          <a:prstGeom prst="rect">
            <a:avLst/>
          </a:prstGeom>
          <a:noFill/>
        </p:spPr>
        <p:txBody>
          <a:bodyPr wrap="square" lIns="0" rIns="0" tIns="0" bIns="0" anchor="t">
            <a:noAutofit/>
          </a:bodyPr>
          <a:lstStyle/>
          <a:p>
            <a:pPr algn="r"/>
            <a:r>
              <a:rPr sz="1100" b="0" i="0">
                <a:solidFill>
                  <a:srgbClr val="5C6F7B"/>
                </a:solidFill>
                <a:latin typeface="Helvetica Neue"/>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Noéa — an introduction</dc:title>
  <dc:subject/>
  <dc:creator>Meeting of Waters</dc:creator>
  <cp:keywords/>
  <dc:description/>
  <cp:lastModifiedBy>Steve Canny</cp:lastModifiedBy>
  <cp:revision>1</cp:revision>
  <dcterms:created xsi:type="dcterms:W3CDTF">2013-01-27T09:14:16Z</dcterms:created>
  <dcterms:modified xsi:type="dcterms:W3CDTF">2013-01-27T09:15:58Z</dcterms:modified>
  <cp:category/>
</cp:coreProperties>
</file>