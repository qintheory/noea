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long hydrological records into something people can experience. The line on screen is real data: Hong Kong's annual peak daily rainfall, 1884 to 2025, one beat per year.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 records already show that rivers and rainfall are changing, as charts and indices. Noéa is an attempt to translate that into something people can perceive. Whether it works is the research question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reads a rainfall or river record the way an ECG is read, in the sense of Issue 3: rhythm, memory, shock. From the diagnostics it derives two affective values, valence and arousal, from Russell's circumplex model of affect: how pleasant or unpleasant, and how calm or activated. They are design decisions about how a result should feel, not properties of the water. Two XR prototypes exist; the next step is to connect them to the analysis and to real scenarios.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is designed to be universal: every record fits its own model on its own history. Hong Kong rainfall and the Rhine and alpine rivers are the only two records run so far. Another rainfall or river record is designed to pass through the same pipeline, but that has not been tested.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layers, kept apart on purpose. The diagnostic layer is plain science: Hong Kong's daily rainfall since 1884, and discharge at eight Rhine and alpine stations. The curatorial layer decides how a result should feel. It is separate code, so the feeling can be redesigned without changing any science. Its output is valence and arousal, chosen by design and checked against named historical events. It has not been tested with people.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has one job so far: finding unusual years. For each record an unsupervised model learns what a typical year looks like, then scores how badly each year fails to fit. The ribbon is the one from Issue 6, but coloured by the model's score instead of by discharge. At Lustenau the highest-scoring year is the August 2005 flood and at Köln and Lobith the Christmas 1993 flood; none was told to the model. At Basel it is 1972, a drought year in Issue 6. It is not a drought detector, though: 1976 ranks third of 70 at Lustenau but 187th of 208 at Köln, and the 1995 Köln flood ranks 101st. In Hong Kong the same model ranks 1926 seventh and 2023 nineteenth of 134 complete years, and the 1963 drought 98th. It flags unusual combinations of features, not every extreme. On the Aare at Thun, not shown, the highest year is the May 1999 Swiss flood.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connects machine intelligence to natural intelligence: a model learns the rhythm of a river or rainfall record and flags the years that break it. What nobody has tested is whether people feel what the system intends. That has to be studied in human labs, with HCI methods. That is the research.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noea_wordmark.png"/>
          <p:cNvPicPr>
            <a:picLocks noChangeAspect="1"/>
          </p:cNvPicPr>
          <p:nvPr/>
        </p:nvPicPr>
        <p:blipFill>
          <a:blip r:embed="rId3"/>
          <a:stretch>
            <a:fillRect/>
          </a:stretch>
        </p:blipFill>
        <p:spPr>
          <a:xfrm>
            <a:off x="914400" y="777240"/>
            <a:ext cx="3188601" cy="1051560"/>
          </a:xfrm>
          <a:prstGeom prst="rect">
            <a:avLst/>
          </a:prstGeom>
        </p:spPr>
      </p:pic>
      <p:sp>
        <p:nvSpPr>
          <p:cNvPr id="3" name="TextBox 2"/>
          <p:cNvSpPr txBox="1"/>
          <p:nvPr/>
        </p:nvSpPr>
        <p:spPr>
          <a:xfrm>
            <a:off x="914400" y="2194560"/>
            <a:ext cx="10362895" cy="640080"/>
          </a:xfrm>
          <a:prstGeom prst="rect">
            <a:avLst/>
          </a:prstGeom>
          <a:noFill/>
        </p:spPr>
        <p:txBody>
          <a:bodyPr wrap="square" lIns="0" rIns="0" tIns="0" bIns="0" anchor="t">
            <a:noAutofit/>
          </a:bodyPr>
          <a:lstStyle/>
          <a:p>
            <a:pPr algn="l"/>
            <a:r>
              <a:rPr sz="2520" b="0" i="1">
                <a:solidFill>
                  <a:srgbClr val="00526F"/>
                </a:solidFill>
                <a:latin typeface="Athelas"/>
              </a:rPr>
              <a:t>Reading water as rhythm, memory and mood</a:t>
            </a:r>
          </a:p>
        </p:txBody>
      </p:sp>
      <p:sp>
        <p:nvSpPr>
          <p:cNvPr id="4" name="TextBox 3"/>
          <p:cNvSpPr txBox="1"/>
          <p:nvPr/>
        </p:nvSpPr>
        <p:spPr>
          <a:xfrm>
            <a:off x="914400" y="2788920"/>
            <a:ext cx="10362895" cy="365760"/>
          </a:xfrm>
          <a:prstGeom prst="rect">
            <a:avLst/>
          </a:prstGeom>
          <a:noFill/>
        </p:spPr>
        <p:txBody>
          <a:bodyPr wrap="square" lIns="0" rIns="0" tIns="0" bIns="0" anchor="t">
            <a:noAutofit/>
          </a:bodyPr>
          <a:lstStyle/>
          <a:p>
            <a:pPr algn="l"/>
            <a:r>
              <a:rPr sz="1340" b="0" i="0">
                <a:solidFill>
                  <a:srgbClr val="5F6F78"/>
                </a:solidFill>
                <a:latin typeface="Frutiger"/>
              </a:rPr>
              <a:t>Affective computing for water systems</a:t>
            </a:r>
          </a:p>
        </p:txBody>
      </p:sp>
      <p:pic>
        <p:nvPicPr>
          <p:cNvPr id="5" name="Picture 4" descr="ecg_row1.png"/>
          <p:cNvPicPr>
            <a:picLocks noChangeAspect="1"/>
          </p:cNvPicPr>
          <p:nvPr/>
        </p:nvPicPr>
        <p:blipFill>
          <a:blip r:embed="rId4"/>
          <a:stretch>
            <a:fillRect/>
          </a:stretch>
        </p:blipFill>
        <p:spPr>
          <a:xfrm>
            <a:off x="914400" y="3840480"/>
            <a:ext cx="10362895" cy="1342645"/>
          </a:xfrm>
          <a:prstGeom prst="rect">
            <a:avLst/>
          </a:prstGeom>
        </p:spPr>
      </p:pic>
      <p:sp>
        <p:nvSpPr>
          <p:cNvPr id="6" name="TextBox 5"/>
          <p:cNvSpPr txBox="1"/>
          <p:nvPr/>
        </p:nvSpPr>
        <p:spPr>
          <a:xfrm>
            <a:off x="914400" y="5897880"/>
            <a:ext cx="10362895" cy="274320"/>
          </a:xfrm>
          <a:prstGeom prst="rect">
            <a:avLst/>
          </a:prstGeom>
          <a:noFill/>
        </p:spPr>
        <p:txBody>
          <a:bodyPr wrap="square" lIns="0" rIns="0" tIns="0" bIns="0" anchor="t">
            <a:noAutofit/>
          </a:bodyPr>
          <a:lstStyle/>
          <a:p>
            <a:pPr algn="l"/>
            <a:r>
              <a:rPr sz="1000" b="0" i="0">
                <a:solidFill>
                  <a:srgbClr val="5F6F78"/>
                </a:solidFill>
                <a:latin typeface="Frutiger"/>
              </a:rPr>
              <a:t>Hong Kong, 1884–2025: one beat per year. Height is the year's peak daily rainfall; spacing is the time since the previous peak.</a:t>
            </a:r>
          </a:p>
        </p:txBody>
      </p:sp>
      <p:pic>
        <p:nvPicPr>
          <p:cNvPr id="7" name="Picture 6" descr="logo.png"/>
          <p:cNvPicPr>
            <a:picLocks noChangeAspect="1"/>
          </p:cNvPicPr>
          <p:nvPr/>
        </p:nvPicPr>
        <p:blipFill>
          <a:blip r:embed="rId5"/>
          <a:stretch>
            <a:fillRect/>
          </a:stretch>
        </p:blipFill>
        <p:spPr>
          <a:xfrm>
            <a:off x="9156947" y="868680"/>
            <a:ext cx="2120348" cy="29260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lide2_decor.jpg"/>
          <p:cNvPicPr>
            <a:picLocks noChangeAspect="1"/>
          </p:cNvPicPr>
          <p:nvPr/>
        </p:nvPicPr>
        <p:blipFill>
          <a:blip r:embed="rId3"/>
          <a:stretch>
            <a:fillRect/>
          </a:stretch>
        </p:blipFill>
        <p:spPr>
          <a:xfrm>
            <a:off x="7500823" y="0"/>
            <a:ext cx="4690872" cy="6858000"/>
          </a:xfrm>
          <a:prstGeom prst="rect">
            <a:avLst/>
          </a:prstGeom>
        </p:spPr>
      </p:pic>
      <p:sp>
        <p:nvSpPr>
          <p:cNvPr id="3" name="TextBox 2"/>
          <p:cNvSpPr txBox="1"/>
          <p:nvPr/>
        </p:nvSpPr>
        <p:spPr>
          <a:xfrm>
            <a:off x="914400" y="2011680"/>
            <a:ext cx="10362895" cy="2194560"/>
          </a:xfrm>
          <a:prstGeom prst="rect">
            <a:avLst/>
          </a:prstGeom>
          <a:noFill/>
        </p:spPr>
        <p:txBody>
          <a:bodyPr wrap="square" lIns="0" rIns="0" tIns="0" bIns="0" anchor="t">
            <a:noAutofit/>
          </a:bodyPr>
          <a:lstStyle/>
          <a:p>
            <a:pPr algn="l">
              <a:lnSpc>
                <a:spcPct val="110000"/>
              </a:lnSpc>
            </a:pPr>
            <a:r>
              <a:rPr sz="3860" b="0" i="0">
                <a:solidFill>
                  <a:srgbClr val="111A20"/>
                </a:solidFill>
                <a:latin typeface="Athelas"/>
              </a:rPr>
              <a:t>Data can show that a river is changing.</a:t>
            </a:r>
          </a:p>
          <a:p>
            <a:pPr algn="l">
              <a:lnSpc>
                <a:spcPct val="110000"/>
              </a:lnSpc>
            </a:pPr>
            <a:r>
              <a:rPr sz="3860" b="0" i="0">
                <a:solidFill>
                  <a:srgbClr val="111A20"/>
                </a:solidFill>
                <a:latin typeface="Athelas"/>
              </a:rPr>
              <a:t>It rarely makes anyone feel it.</a:t>
            </a:r>
          </a:p>
        </p:txBody>
      </p:sp>
      <p:cxnSp>
        <p:nvCxnSpPr>
          <p:cNvPr id="4" name="Connector 3"/>
          <p:cNvCxnSpPr/>
          <p:nvPr/>
        </p:nvCxnSpPr>
        <p:spPr>
          <a:xfrm>
            <a:off x="914400" y="4206240"/>
            <a:ext cx="109728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4434840"/>
            <a:ext cx="10362895" cy="914400"/>
          </a:xfrm>
          <a:prstGeom prst="rect">
            <a:avLst/>
          </a:prstGeom>
          <a:noFill/>
        </p:spPr>
        <p:txBody>
          <a:bodyPr wrap="square" lIns="0" rIns="0" tIns="0" bIns="0" anchor="t">
            <a:noAutofit/>
          </a:bodyPr>
          <a:lstStyle/>
          <a:p>
            <a:pPr algn="l">
              <a:lnSpc>
                <a:spcPct val="115000"/>
              </a:lnSpc>
            </a:pPr>
            <a:r>
              <a:rPr sz="1850" b="0" i="1">
                <a:solidFill>
                  <a:srgbClr val="00526F"/>
                </a:solidFill>
                <a:latin typeface="Athelas"/>
              </a:rPr>
              <a:t>Noéa</a:t>
            </a:r>
            <a:r>
              <a:rPr sz="1850" b="0" i="1">
                <a:solidFill>
                  <a:srgbClr val="00526F"/>
                </a:solidFill>
                <a:latin typeface="Athelas"/>
              </a:rPr>
              <a:t> works in the missing layer: turning measurement into meaning people can experience.</a:t>
            </a:r>
          </a:p>
        </p:txBody>
      </p:sp>
      <p:pic>
        <p:nvPicPr>
          <p:cNvPr id="6" name="Picture 5" descr="logo.png"/>
          <p:cNvPicPr>
            <a:picLocks noChangeAspect="1"/>
          </p:cNvPicPr>
          <p:nvPr/>
        </p:nvPicPr>
        <p:blipFill>
          <a:blip r:embed="rId4"/>
          <a:stretch>
            <a:fillRect/>
          </a:stretch>
        </p:blipFill>
        <p:spPr>
          <a:xfrm>
            <a:off x="914400" y="6236208"/>
            <a:ext cx="2120348" cy="292608"/>
          </a:xfrm>
          <a:prstGeom prst="rect">
            <a:avLst/>
          </a:prstGeom>
        </p:spPr>
      </p:pic>
      <p:sp>
        <p:nvSpPr>
          <p:cNvPr id="7" name="TextBox 6"/>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020" b="0" i="0">
                <a:solidFill>
                  <a:srgbClr val="111A20"/>
                </a:solidFill>
                <a:latin typeface="Athelas"/>
              </a:rPr>
              <a:t>It reads a record the way a cardiologist reads an ECG</a:t>
            </a:r>
          </a:p>
        </p:txBody>
      </p:sp>
      <p:cxnSp>
        <p:nvCxnSpPr>
          <p:cNvPr id="3" name="Connector 2"/>
          <p:cNvCxnSpPr/>
          <p:nvPr/>
        </p:nvCxnSpPr>
        <p:spPr>
          <a:xfrm>
            <a:off x="914400"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01</a:t>
            </a:r>
          </a:p>
        </p:txBody>
      </p:sp>
      <p:sp>
        <p:nvSpPr>
          <p:cNvPr id="5" name="TextBox 4"/>
          <p:cNvSpPr txBox="1"/>
          <p:nvPr/>
        </p:nvSpPr>
        <p:spPr>
          <a:xfrm>
            <a:off x="914400"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A long record</a:t>
            </a:r>
          </a:p>
        </p:txBody>
      </p:sp>
      <p:sp>
        <p:nvSpPr>
          <p:cNvPr id="6" name="TextBox 5"/>
          <p:cNvSpPr txBox="1"/>
          <p:nvPr/>
        </p:nvSpPr>
        <p:spPr>
          <a:xfrm>
            <a:off x="914400"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Daily rainfall or river discharge, covering decades to two centuries.</a:t>
            </a:r>
          </a:p>
        </p:txBody>
      </p:sp>
      <p:cxnSp>
        <p:nvCxnSpPr>
          <p:cNvPr id="7" name="Connector 6"/>
          <p:cNvCxnSpPr/>
          <p:nvPr/>
        </p:nvCxnSpPr>
        <p:spPr>
          <a:xfrm>
            <a:off x="3575304"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575304"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02</a:t>
            </a:r>
          </a:p>
        </p:txBody>
      </p:sp>
      <p:sp>
        <p:nvSpPr>
          <p:cNvPr id="9" name="TextBox 8"/>
          <p:cNvSpPr txBox="1"/>
          <p:nvPr/>
        </p:nvSpPr>
        <p:spPr>
          <a:xfrm>
            <a:off x="3575304"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ECG-inspired diagnostics</a:t>
            </a:r>
          </a:p>
        </p:txBody>
      </p:sp>
      <p:sp>
        <p:nvSpPr>
          <p:cNvPr id="10" name="TextBox 9"/>
          <p:cNvSpPr txBox="1"/>
          <p:nvPr/>
        </p:nvSpPr>
        <p:spPr>
          <a:xfrm>
            <a:off x="3575304"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Rainfall: annual peaks, the gaps between them, return periods.</a:t>
            </a:r>
          </a:p>
          <a:p>
            <a:pPr algn="l">
              <a:lnSpc>
                <a:spcPct val="112000"/>
              </a:lnSpc>
              <a:spcAft>
                <a:spcPts val="700"/>
              </a:spcAft>
            </a:pPr>
            <a:r>
              <a:rPr sz="1220" b="0" i="0">
                <a:solidFill>
                  <a:srgbClr val="5F6F78"/>
                </a:solidFill>
                <a:latin typeface="Frutiger"/>
              </a:rPr>
              <a:t>Rivers: flow duration, recession, the seasonal cycle.</a:t>
            </a:r>
          </a:p>
        </p:txBody>
      </p:sp>
      <p:cxnSp>
        <p:nvCxnSpPr>
          <p:cNvPr id="11" name="Connector 10"/>
          <p:cNvCxnSpPr/>
          <p:nvPr/>
        </p:nvCxnSpPr>
        <p:spPr>
          <a:xfrm>
            <a:off x="6236208" y="2514600"/>
            <a:ext cx="237744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36208" y="2743200"/>
            <a:ext cx="2377440" cy="274320"/>
          </a:xfrm>
          <a:prstGeom prst="rect">
            <a:avLst/>
          </a:prstGeom>
          <a:noFill/>
        </p:spPr>
        <p:txBody>
          <a:bodyPr wrap="square" lIns="0" rIns="0" tIns="0" bIns="0" anchor="t">
            <a:noAutofit/>
          </a:bodyPr>
          <a:lstStyle/>
          <a:p>
            <a:pPr algn="l"/>
            <a:r>
              <a:rPr sz="1090" b="1" i="0" spc="100">
                <a:solidFill>
                  <a:srgbClr val="00526F"/>
                </a:solidFill>
                <a:latin typeface="Frutiger"/>
              </a:rPr>
              <a:t>03</a:t>
            </a:r>
          </a:p>
        </p:txBody>
      </p:sp>
      <p:sp>
        <p:nvSpPr>
          <p:cNvPr id="13" name="TextBox 12"/>
          <p:cNvSpPr txBox="1"/>
          <p:nvPr/>
        </p:nvSpPr>
        <p:spPr>
          <a:xfrm>
            <a:off x="6236208"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Two affective values</a:t>
            </a:r>
          </a:p>
        </p:txBody>
      </p:sp>
      <p:sp>
        <p:nvSpPr>
          <p:cNvPr id="14" name="TextBox 13"/>
          <p:cNvSpPr txBox="1"/>
          <p:nvPr/>
        </p:nvSpPr>
        <p:spPr>
          <a:xfrm>
            <a:off x="6236208"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111A20"/>
                </a:solidFill>
                <a:latin typeface="Frutiger"/>
              </a:rPr>
              <a:t>Valence: pleasant to unpleasant.</a:t>
            </a:r>
          </a:p>
          <a:p>
            <a:pPr algn="l">
              <a:lnSpc>
                <a:spcPct val="112000"/>
              </a:lnSpc>
              <a:spcAft>
                <a:spcPts val="700"/>
              </a:spcAft>
            </a:pPr>
            <a:r>
              <a:rPr sz="1220" b="0" i="0">
                <a:solidFill>
                  <a:srgbClr val="111A20"/>
                </a:solidFill>
                <a:latin typeface="Frutiger"/>
              </a:rPr>
              <a:t>Arousal: calm to activated.</a:t>
            </a:r>
          </a:p>
          <a:p>
            <a:pPr algn="l">
              <a:lnSpc>
                <a:spcPct val="112000"/>
              </a:lnSpc>
              <a:spcAft>
                <a:spcPts val="700"/>
              </a:spcAft>
            </a:pPr>
            <a:r>
              <a:rPr sz="1220" b="0" i="0">
                <a:solidFill>
                  <a:srgbClr val="111A20"/>
                </a:solidFill>
                <a:latin typeface="Frutiger"/>
              </a:rPr>
              <a:t>Set by design in the curatorial layer.</a:t>
            </a:r>
          </a:p>
        </p:txBody>
      </p:sp>
      <p:cxnSp>
        <p:nvCxnSpPr>
          <p:cNvPr id="15" name="Connector 14"/>
          <p:cNvCxnSpPr/>
          <p:nvPr/>
        </p:nvCxnSpPr>
        <p:spPr>
          <a:xfrm>
            <a:off x="8897112"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97112"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04</a:t>
            </a:r>
          </a:p>
        </p:txBody>
      </p:sp>
      <p:sp>
        <p:nvSpPr>
          <p:cNvPr id="17" name="TextBox 16"/>
          <p:cNvSpPr txBox="1"/>
          <p:nvPr/>
        </p:nvSpPr>
        <p:spPr>
          <a:xfrm>
            <a:off x="8897112"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XR experience</a:t>
            </a:r>
          </a:p>
        </p:txBody>
      </p:sp>
      <p:sp>
        <p:nvSpPr>
          <p:cNvPr id="18" name="TextBox 17"/>
          <p:cNvSpPr txBox="1"/>
          <p:nvPr/>
        </p:nvSpPr>
        <p:spPr>
          <a:xfrm>
            <a:off x="8897112"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Two XR prototypes exist.</a:t>
            </a:r>
          </a:p>
          <a:p>
            <a:pPr algn="l">
              <a:lnSpc>
                <a:spcPct val="112000"/>
              </a:lnSpc>
              <a:spcAft>
                <a:spcPts val="700"/>
              </a:spcAft>
            </a:pPr>
            <a:r>
              <a:rPr sz="1220" b="0" i="0">
                <a:solidFill>
                  <a:srgbClr val="5F6F78"/>
                </a:solidFill>
                <a:latin typeface="Frutiger"/>
              </a:rPr>
              <a:t>Next: connect them to the analysis and to real scenarios.</a:t>
            </a:r>
          </a:p>
        </p:txBody>
      </p:sp>
      <p:sp>
        <p:nvSpPr>
          <p:cNvPr id="19" name="TextBox 18"/>
          <p:cNvSpPr txBox="1"/>
          <p:nvPr/>
        </p:nvSpPr>
        <p:spPr>
          <a:xfrm>
            <a:off x="914400" y="5760720"/>
            <a:ext cx="10362895" cy="274320"/>
          </a:xfrm>
          <a:prstGeom prst="rect">
            <a:avLst/>
          </a:prstGeom>
          <a:noFill/>
        </p:spPr>
        <p:txBody>
          <a:bodyPr wrap="square" lIns="0" rIns="0" tIns="0" bIns="0" anchor="t">
            <a:noAutofit/>
          </a:bodyPr>
          <a:lstStyle/>
          <a:p>
            <a:pPr algn="l"/>
            <a:r>
              <a:rPr sz="1000" b="0" i="0">
                <a:solidFill>
                  <a:srgbClr val="5F6F78"/>
                </a:solidFill>
                <a:latin typeface="Frutiger"/>
              </a:rPr>
              <a:t>Valence and arousal follow Russell's circumplex model of affect: Russell, J. A. (1980), Journal of Personality and Social Psychology, 39(6), 1161–1178. Adopted in </a:t>
            </a:r>
            <a:r>
              <a:rPr sz="1000" b="0" i="1">
                <a:solidFill>
                  <a:srgbClr val="5F6F78"/>
                </a:solidFill>
                <a:latin typeface="Frutiger"/>
              </a:rPr>
              <a:t>Noéa</a:t>
            </a:r>
            <a:r>
              <a:rPr sz="1000" b="0" i="0">
                <a:solidFill>
                  <a:srgbClr val="5F6F78"/>
                </a:solidFill>
                <a:latin typeface="Frutiger"/>
              </a:rPr>
              <a:t> Issue 4.</a:t>
            </a:r>
          </a:p>
        </p:txBody>
      </p:sp>
      <p:pic>
        <p:nvPicPr>
          <p:cNvPr id="20" name="Picture 19" descr="logo.png"/>
          <p:cNvPicPr>
            <a:picLocks noChangeAspect="1"/>
          </p:cNvPicPr>
          <p:nvPr/>
        </p:nvPicPr>
        <p:blipFill>
          <a:blip r:embed="rId3"/>
          <a:stretch>
            <a:fillRect/>
          </a:stretch>
        </p:blipFill>
        <p:spPr>
          <a:xfrm>
            <a:off x="914400" y="6236208"/>
            <a:ext cx="2120348" cy="292608"/>
          </a:xfrm>
          <a:prstGeom prst="rect">
            <a:avLst/>
          </a:prstGeom>
        </p:spPr>
      </p:pic>
      <p:sp>
        <p:nvSpPr>
          <p:cNvPr id="21" name="TextBox 20"/>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Designed to be universal</a:t>
            </a:r>
          </a:p>
        </p:txBody>
      </p:sp>
      <p:sp>
        <p:nvSpPr>
          <p:cNvPr id="3" name="TextBox 2"/>
          <p:cNvSpPr txBox="1"/>
          <p:nvPr/>
        </p:nvSpPr>
        <p:spPr>
          <a:xfrm>
            <a:off x="914400" y="2057400"/>
            <a:ext cx="10362895" cy="1371600"/>
          </a:xfrm>
          <a:prstGeom prst="rect">
            <a:avLst/>
          </a:prstGeom>
          <a:noFill/>
        </p:spPr>
        <p:txBody>
          <a:bodyPr wrap="square" lIns="0" rIns="0" tIns="0" bIns="0" anchor="t">
            <a:noAutofit/>
          </a:bodyPr>
          <a:lstStyle/>
          <a:p>
            <a:pPr algn="l">
              <a:lnSpc>
                <a:spcPct val="115000"/>
              </a:lnSpc>
            </a:pPr>
            <a:r>
              <a:rPr sz="2270" b="0" i="0">
                <a:solidFill>
                  <a:srgbClr val="111A20"/>
                </a:solidFill>
                <a:latin typeface="Athelas"/>
              </a:rPr>
              <a:t>Each record fits its own model on its own history. Other long rainfall or river records are designed to go through the same pipeline.</a:t>
            </a:r>
          </a:p>
        </p:txBody>
      </p:sp>
      <p:cxnSp>
        <p:nvCxnSpPr>
          <p:cNvPr id="4" name="Connector 3"/>
          <p:cNvCxnSpPr/>
          <p:nvPr/>
        </p:nvCxnSpPr>
        <p:spPr>
          <a:xfrm>
            <a:off x="914400" y="329184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474720"/>
            <a:ext cx="3840480" cy="457200"/>
          </a:xfrm>
          <a:prstGeom prst="rect">
            <a:avLst/>
          </a:prstGeom>
          <a:noFill/>
        </p:spPr>
        <p:txBody>
          <a:bodyPr wrap="square" lIns="0" rIns="0" tIns="0" bIns="0" anchor="t">
            <a:noAutofit/>
          </a:bodyPr>
          <a:lstStyle/>
          <a:p>
            <a:pPr algn="l"/>
            <a:r>
              <a:rPr sz="1760" b="0" i="0">
                <a:solidFill>
                  <a:srgbClr val="111A20"/>
                </a:solidFill>
                <a:latin typeface="Athelas"/>
              </a:rPr>
              <a:t>Hong Kong rainfall</a:t>
            </a:r>
          </a:p>
        </p:txBody>
      </p:sp>
      <p:sp>
        <p:nvSpPr>
          <p:cNvPr id="6" name="TextBox 5"/>
          <p:cNvSpPr txBox="1"/>
          <p:nvPr/>
        </p:nvSpPr>
        <p:spPr>
          <a:xfrm>
            <a:off x="4937760" y="3538728"/>
            <a:ext cx="6339535" cy="457200"/>
          </a:xfrm>
          <a:prstGeom prst="rect">
            <a:avLst/>
          </a:prstGeom>
          <a:noFill/>
        </p:spPr>
        <p:txBody>
          <a:bodyPr wrap="square" lIns="0" rIns="0" tIns="0" bIns="0" anchor="t">
            <a:noAutofit/>
          </a:bodyPr>
          <a:lstStyle/>
          <a:p>
            <a:pPr algn="l"/>
            <a:r>
              <a:rPr sz="1180" b="0" i="0">
                <a:solidFill>
                  <a:srgbClr val="5F6F78"/>
                </a:solidFill>
                <a:latin typeface="Frutiger"/>
              </a:rPr>
              <a:t>Public record, Hong Kong Observatory. Daily, 1884–2025.</a:t>
            </a:r>
          </a:p>
        </p:txBody>
      </p:sp>
      <p:cxnSp>
        <p:nvCxnSpPr>
          <p:cNvPr id="7" name="Connector 6"/>
          <p:cNvCxnSpPr/>
          <p:nvPr/>
        </p:nvCxnSpPr>
        <p:spPr>
          <a:xfrm>
            <a:off x="914400" y="402336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4206240"/>
            <a:ext cx="3840480" cy="457200"/>
          </a:xfrm>
          <a:prstGeom prst="rect">
            <a:avLst/>
          </a:prstGeom>
          <a:noFill/>
        </p:spPr>
        <p:txBody>
          <a:bodyPr wrap="square" lIns="0" rIns="0" tIns="0" bIns="0" anchor="t">
            <a:noAutofit/>
          </a:bodyPr>
          <a:lstStyle/>
          <a:p>
            <a:pPr algn="l"/>
            <a:r>
              <a:rPr sz="1760" b="0" i="0">
                <a:solidFill>
                  <a:srgbClr val="111A20"/>
                </a:solidFill>
                <a:latin typeface="Athelas"/>
              </a:rPr>
              <a:t>Rhine and alpine rivers</a:t>
            </a:r>
          </a:p>
        </p:txBody>
      </p:sp>
      <p:sp>
        <p:nvSpPr>
          <p:cNvPr id="9" name="TextBox 8"/>
          <p:cNvSpPr txBox="1"/>
          <p:nvPr/>
        </p:nvSpPr>
        <p:spPr>
          <a:xfrm>
            <a:off x="4937760" y="4270248"/>
            <a:ext cx="6339535" cy="457200"/>
          </a:xfrm>
          <a:prstGeom prst="rect">
            <a:avLst/>
          </a:prstGeom>
          <a:noFill/>
        </p:spPr>
        <p:txBody>
          <a:bodyPr wrap="square" lIns="0" rIns="0" tIns="0" bIns="0" anchor="t">
            <a:noAutofit/>
          </a:bodyPr>
          <a:lstStyle/>
          <a:p>
            <a:pPr algn="l"/>
            <a:r>
              <a:rPr sz="1180" b="0" i="0">
                <a:solidFill>
                  <a:srgbClr val="5F6F78"/>
                </a:solidFill>
                <a:latin typeface="Frutiger"/>
              </a:rPr>
              <a:t>Public records, GRDC and FOEN. Daily, 8 stations.</a:t>
            </a:r>
          </a:p>
        </p:txBody>
      </p:sp>
      <p:cxnSp>
        <p:nvCxnSpPr>
          <p:cNvPr id="10" name="Connector 9"/>
          <p:cNvCxnSpPr/>
          <p:nvPr/>
        </p:nvCxnSpPr>
        <p:spPr>
          <a:xfrm>
            <a:off x="914400" y="475488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4937760"/>
            <a:ext cx="3840480" cy="457200"/>
          </a:xfrm>
          <a:prstGeom prst="rect">
            <a:avLst/>
          </a:prstGeom>
          <a:noFill/>
        </p:spPr>
        <p:txBody>
          <a:bodyPr wrap="square" lIns="0" rIns="0" tIns="0" bIns="0" anchor="t">
            <a:noAutofit/>
          </a:bodyPr>
          <a:lstStyle/>
          <a:p>
            <a:pPr algn="l"/>
            <a:r>
              <a:rPr sz="1760" b="0" i="0">
                <a:solidFill>
                  <a:srgbClr val="5F6F78"/>
                </a:solidFill>
                <a:latin typeface="Athelas"/>
              </a:rPr>
              <a:t>The next record</a:t>
            </a:r>
          </a:p>
        </p:txBody>
      </p:sp>
      <p:sp>
        <p:nvSpPr>
          <p:cNvPr id="12" name="TextBox 11"/>
          <p:cNvSpPr txBox="1"/>
          <p:nvPr/>
        </p:nvSpPr>
        <p:spPr>
          <a:xfrm>
            <a:off x="4937760" y="5001768"/>
            <a:ext cx="6339535" cy="457200"/>
          </a:xfrm>
          <a:prstGeom prst="rect">
            <a:avLst/>
          </a:prstGeom>
          <a:noFill/>
        </p:spPr>
        <p:txBody>
          <a:bodyPr wrap="square" lIns="0" rIns="0" tIns="0" bIns="0" anchor="t">
            <a:noAutofit/>
          </a:bodyPr>
          <a:lstStyle/>
          <a:p>
            <a:pPr algn="l"/>
            <a:r>
              <a:rPr sz="1180" b="0" i="0">
                <a:solidFill>
                  <a:srgbClr val="5F6F78"/>
                </a:solidFill>
                <a:latin typeface="Frutiger"/>
              </a:rPr>
              <a:t>TBA</a:t>
            </a:r>
          </a:p>
        </p:txBody>
      </p:sp>
      <p:pic>
        <p:nvPicPr>
          <p:cNvPr id="13" name="Picture 12" descr="logo.png"/>
          <p:cNvPicPr>
            <a:picLocks noChangeAspect="1"/>
          </p:cNvPicPr>
          <p:nvPr/>
        </p:nvPicPr>
        <p:blipFill>
          <a:blip r:embed="rId3"/>
          <a:stretch>
            <a:fillRect/>
          </a:stretch>
        </p:blipFill>
        <p:spPr>
          <a:xfrm>
            <a:off x="914400" y="6236208"/>
            <a:ext cx="2120348" cy="292608"/>
          </a:xfrm>
          <a:prstGeom prst="rect">
            <a:avLst/>
          </a:prstGeom>
        </p:spPr>
      </p:pic>
      <p:sp>
        <p:nvSpPr>
          <p:cNvPr id="14" name="TextBox 13"/>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Two layers, kept deliberately apart</a:t>
            </a:r>
          </a:p>
        </p:txBody>
      </p:sp>
      <p:sp>
        <p:nvSpPr>
          <p:cNvPr id="3" name="TextBox 2"/>
          <p:cNvSpPr txBox="1"/>
          <p:nvPr/>
        </p:nvSpPr>
        <p:spPr>
          <a:xfrm>
            <a:off x="914400"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Diagnostic layer</a:t>
            </a:r>
          </a:p>
        </p:txBody>
      </p:sp>
      <p:sp>
        <p:nvSpPr>
          <p:cNvPr id="4" name="TextBox 3"/>
          <p:cNvSpPr txBox="1"/>
          <p:nvPr/>
        </p:nvSpPr>
        <p:spPr>
          <a:xfrm>
            <a:off x="914400" y="2926080"/>
            <a:ext cx="4754880" cy="274320"/>
          </a:xfrm>
          <a:prstGeom prst="rect">
            <a:avLst/>
          </a:prstGeom>
          <a:noFill/>
        </p:spPr>
        <p:txBody>
          <a:bodyPr wrap="square" lIns="0" rIns="0" tIns="0" bIns="0" anchor="t">
            <a:noAutofit/>
          </a:bodyPr>
          <a:lstStyle/>
          <a:p>
            <a:pPr algn="l"/>
            <a:r>
              <a:rPr sz="1010" b="1" i="0" spc="140">
                <a:solidFill>
                  <a:srgbClr val="5F6F78"/>
                </a:solidFill>
                <a:latin typeface="Frutiger"/>
              </a:rPr>
              <a:t>SCIENCE</a:t>
            </a:r>
          </a:p>
        </p:txBody>
      </p:sp>
      <p:sp>
        <p:nvSpPr>
          <p:cNvPr id="5" name="TextBox 4"/>
          <p:cNvSpPr txBox="1"/>
          <p:nvPr/>
        </p:nvSpPr>
        <p:spPr>
          <a:xfrm>
            <a:off x="914400"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Rainfall, Hong Kong 1884–2025: annual peaks, the gaps between them, return periods.</a:t>
            </a:r>
          </a:p>
          <a:p>
            <a:pPr algn="l">
              <a:lnSpc>
                <a:spcPct val="112000"/>
              </a:lnSpc>
              <a:spcAft>
                <a:spcPts val="1200"/>
              </a:spcAft>
            </a:pPr>
            <a:r>
              <a:rPr sz="1390" b="0" i="0">
                <a:solidFill>
                  <a:srgbClr val="111A20"/>
                </a:solidFill>
                <a:latin typeface="Frutiger"/>
              </a:rPr>
              <a:t>Rivers, Rhine and alpine, 8 stations: flow duration, recession, the seasonal cycle.</a:t>
            </a:r>
          </a:p>
          <a:p>
            <a:pPr algn="l">
              <a:lnSpc>
                <a:spcPct val="112000"/>
              </a:lnSpc>
              <a:spcAft>
                <a:spcPts val="1200"/>
              </a:spcAft>
            </a:pPr>
            <a:r>
              <a:rPr sz="1390" b="0" i="0">
                <a:solidFill>
                  <a:srgbClr val="111A20"/>
                </a:solidFill>
                <a:latin typeface="Frutiger"/>
              </a:rPr>
              <a:t>Measures what happened, and is never changed to suit the design.</a:t>
            </a:r>
          </a:p>
        </p:txBody>
      </p:sp>
      <p:cxnSp>
        <p:nvCxnSpPr>
          <p:cNvPr id="6" name="Connector 5"/>
          <p:cNvCxnSpPr/>
          <p:nvPr/>
        </p:nvCxnSpPr>
        <p:spPr>
          <a:xfrm>
            <a:off x="6096304" y="2377440"/>
            <a:ext cx="0" cy="3566160"/>
          </a:xfrm>
          <a:prstGeom prst="line">
            <a:avLst/>
          </a:prstGeom>
          <a:ln w="12700">
            <a:solidFill>
              <a:srgbClr val="D3DD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22415"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Curatorial layer</a:t>
            </a:r>
          </a:p>
        </p:txBody>
      </p:sp>
      <p:sp>
        <p:nvSpPr>
          <p:cNvPr id="8" name="TextBox 7"/>
          <p:cNvSpPr txBox="1"/>
          <p:nvPr/>
        </p:nvSpPr>
        <p:spPr>
          <a:xfrm>
            <a:off x="6522415" y="2926080"/>
            <a:ext cx="4754880" cy="274320"/>
          </a:xfrm>
          <a:prstGeom prst="rect">
            <a:avLst/>
          </a:prstGeom>
          <a:noFill/>
        </p:spPr>
        <p:txBody>
          <a:bodyPr wrap="square" lIns="0" rIns="0" tIns="0" bIns="0" anchor="t">
            <a:noAutofit/>
          </a:bodyPr>
          <a:lstStyle/>
          <a:p>
            <a:pPr algn="l"/>
            <a:r>
              <a:rPr sz="1010" b="1" i="0" spc="140">
                <a:solidFill>
                  <a:srgbClr val="00526F"/>
                </a:solidFill>
                <a:latin typeface="Frutiger"/>
              </a:rPr>
              <a:t>DESIGNED</a:t>
            </a:r>
          </a:p>
        </p:txBody>
      </p:sp>
      <p:sp>
        <p:nvSpPr>
          <p:cNvPr id="9" name="TextBox 8"/>
          <p:cNvSpPr txBox="1"/>
          <p:nvPr/>
        </p:nvSpPr>
        <p:spPr>
          <a:xfrm>
            <a:off x="6522415"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Decides how a result should feel: how alarming, how heavy.</a:t>
            </a:r>
          </a:p>
          <a:p>
            <a:pPr algn="l">
              <a:lnSpc>
                <a:spcPct val="112000"/>
              </a:lnSpc>
              <a:spcAft>
                <a:spcPts val="1200"/>
              </a:spcAft>
            </a:pPr>
            <a:r>
              <a:rPr sz="1390" b="0" i="0">
                <a:solidFill>
                  <a:srgbClr val="111A20"/>
                </a:solidFill>
                <a:latin typeface="Frutiger"/>
              </a:rPr>
              <a:t>Developed separately in Unity3D, for presentation and exhibition.</a:t>
            </a:r>
          </a:p>
          <a:p>
            <a:pPr algn="l">
              <a:lnSpc>
                <a:spcPct val="112000"/>
              </a:lnSpc>
              <a:spcAft>
                <a:spcPts val="1200"/>
              </a:spcAft>
            </a:pPr>
            <a:r>
              <a:rPr sz="1390" b="0" i="0">
                <a:solidFill>
                  <a:srgbClr val="111A20"/>
                </a:solidFill>
                <a:latin typeface="Frutiger"/>
              </a:rPr>
              <a:t>Output: valence and arousal. Set by design judgement and checked against named historical events; not yet tested with viewers.</a:t>
            </a:r>
          </a:p>
        </p:txBody>
      </p:sp>
      <p:pic>
        <p:nvPicPr>
          <p:cNvPr id="10" name="Picture 9" descr="logo.png"/>
          <p:cNvPicPr>
            <a:picLocks noChangeAspect="1"/>
          </p:cNvPicPr>
          <p:nvPr/>
        </p:nvPicPr>
        <p:blipFill>
          <a:blip r:embed="rId3"/>
          <a:stretch>
            <a:fillRect/>
          </a:stretch>
        </p:blipFill>
        <p:spPr>
          <a:xfrm>
            <a:off x="914400" y="6236208"/>
            <a:ext cx="2120348" cy="292608"/>
          </a:xfrm>
          <a:prstGeom prst="rect">
            <a:avLst/>
          </a:prstGeom>
        </p:spPr>
      </p:pic>
      <p:sp>
        <p:nvSpPr>
          <p:cNvPr id="11" name="TextBox 10"/>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Machine learning finds unusual years</a:t>
            </a:r>
          </a:p>
        </p:txBody>
      </p:sp>
      <p:sp>
        <p:nvSpPr>
          <p:cNvPr id="3" name="TextBox 2"/>
          <p:cNvSpPr txBox="1"/>
          <p:nvPr/>
        </p:nvSpPr>
        <p:spPr>
          <a:xfrm>
            <a:off x="914400" y="1463040"/>
            <a:ext cx="10362895" cy="365760"/>
          </a:xfrm>
          <a:prstGeom prst="rect">
            <a:avLst/>
          </a:prstGeom>
          <a:noFill/>
        </p:spPr>
        <p:txBody>
          <a:bodyPr wrap="square" lIns="0" rIns="0" tIns="0" bIns="0" anchor="t">
            <a:noAutofit/>
          </a:bodyPr>
          <a:lstStyle/>
          <a:p>
            <a:pPr algn="l"/>
            <a:r>
              <a:rPr sz="1340" b="0" i="0">
                <a:solidFill>
                  <a:srgbClr val="5F6F78"/>
                </a:solidFill>
                <a:latin typeface="Frutiger"/>
              </a:rPr>
              <a:t>Unsupervised: learn what a typical year looks like for each record, then score how badly each year fits.</a:t>
            </a:r>
          </a:p>
        </p:txBody>
      </p:sp>
      <p:pic>
        <p:nvPicPr>
          <p:cNvPr id="4" name="Picture 3" descr="anomaly_ribbon.png"/>
          <p:cNvPicPr>
            <a:picLocks noChangeAspect="1"/>
          </p:cNvPicPr>
          <p:nvPr/>
        </p:nvPicPr>
        <p:blipFill>
          <a:blip r:embed="rId3"/>
          <a:stretch>
            <a:fillRect/>
          </a:stretch>
        </p:blipFill>
        <p:spPr>
          <a:xfrm>
            <a:off x="914400" y="2148840"/>
            <a:ext cx="10362895" cy="2744587"/>
          </a:xfrm>
          <a:prstGeom prst="rect">
            <a:avLst/>
          </a:prstGeom>
        </p:spPr>
      </p:pic>
      <p:sp>
        <p:nvSpPr>
          <p:cNvPr id="5" name="TextBox 4"/>
          <p:cNvSpPr txBox="1"/>
          <p:nvPr/>
        </p:nvSpPr>
        <p:spPr>
          <a:xfrm>
            <a:off x="914400" y="5120640"/>
            <a:ext cx="10362895" cy="365760"/>
          </a:xfrm>
          <a:prstGeom prst="rect">
            <a:avLst/>
          </a:prstGeom>
          <a:noFill/>
        </p:spPr>
        <p:txBody>
          <a:bodyPr wrap="square" lIns="0" rIns="0" tIns="0" bIns="0" anchor="t">
            <a:noAutofit/>
          </a:bodyPr>
          <a:lstStyle/>
          <a:p>
            <a:pPr algn="l"/>
            <a:r>
              <a:rPr sz="1260" b="1" i="0">
                <a:solidFill>
                  <a:srgbClr val="111A20"/>
                </a:solidFill>
                <a:latin typeface="Frutiger"/>
              </a:rPr>
              <a:t>Outlined: each station's highest-scoring year, 1951–2020. </a:t>
            </a:r>
            <a:r>
              <a:rPr sz="1260" b="0" i="0">
                <a:solidFill>
                  <a:srgbClr val="111A20"/>
                </a:solidFill>
                <a:latin typeface="Frutiger"/>
              </a:rPr>
              <a:t>The model was never told what happened in any of them.</a:t>
            </a:r>
          </a:p>
        </p:txBody>
      </p:sp>
      <p:sp>
        <p:nvSpPr>
          <p:cNvPr id="6" name="TextBox 5"/>
          <p:cNvSpPr txBox="1"/>
          <p:nvPr/>
        </p:nvSpPr>
        <p:spPr>
          <a:xfrm>
            <a:off x="914400" y="5577840"/>
            <a:ext cx="10362895" cy="548640"/>
          </a:xfrm>
          <a:prstGeom prst="rect">
            <a:avLst/>
          </a:prstGeom>
          <a:noFill/>
        </p:spPr>
        <p:txBody>
          <a:bodyPr wrap="square" lIns="0" rIns="0" tIns="0" bIns="0" anchor="t">
            <a:noAutofit/>
          </a:bodyPr>
          <a:lstStyle/>
          <a:p>
            <a:pPr algn="l">
              <a:lnSpc>
                <a:spcPct val="108000"/>
              </a:lnSpc>
              <a:spcAft>
                <a:spcPts val="300"/>
              </a:spcAft>
            </a:pPr>
            <a:r>
              <a:rPr sz="1000" b="0" i="0">
                <a:solidFill>
                  <a:srgbClr val="5F6F78"/>
                </a:solidFill>
                <a:latin typeface="Frutiger"/>
              </a:rPr>
              <a:t>Method: PCA reconstruction error, one model per station. 1993: Christmas Rhine flood (Köln, Lobith). 2005: Alpine floods (Lustenau). 1972: a drought year in Issue 6.</a:t>
            </a:r>
          </a:p>
          <a:p>
            <a:pPr algn="l">
              <a:lnSpc>
                <a:spcPct val="108000"/>
              </a:lnSpc>
            </a:pPr>
            <a:r>
              <a:rPr sz="1000" b="0" i="0">
                <a:solidFill>
                  <a:srgbClr val="5F6F78"/>
                </a:solidFill>
                <a:latin typeface="Frutiger"/>
              </a:rPr>
              <a:t>Limit: it flags unusual combinations, not extremes. 1976 drought: 3rd of 70 years at Lustenau, 187th of 208 at Köln. 1995 Köln flood: 101st.</a:t>
            </a:r>
          </a:p>
        </p:txBody>
      </p:sp>
      <p:pic>
        <p:nvPicPr>
          <p:cNvPr id="7" name="Picture 6" descr="logo.png"/>
          <p:cNvPicPr>
            <a:picLocks noChangeAspect="1"/>
          </p:cNvPicPr>
          <p:nvPr/>
        </p:nvPicPr>
        <p:blipFill>
          <a:blip r:embed="rId4"/>
          <a:stretch>
            <a:fillRect/>
          </a:stretch>
        </p:blipFill>
        <p:spPr>
          <a:xfrm>
            <a:off x="914400" y="6236208"/>
            <a:ext cx="2120348" cy="292608"/>
          </a:xfrm>
          <a:prstGeom prst="rect">
            <a:avLst/>
          </a:prstGeom>
        </p:spPr>
      </p:pic>
      <p:sp>
        <p:nvSpPr>
          <p:cNvPr id="8" name="TextBox 7"/>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tmosphere.jpg"/>
          <p:cNvPicPr>
            <a:picLocks noChangeAspect="1"/>
          </p:cNvPicPr>
          <p:nvPr/>
        </p:nvPicPr>
        <p:blipFill>
          <a:blip r:embed="rId3"/>
          <a:stretch>
            <a:fillRect/>
          </a:stretch>
        </p:blipFill>
        <p:spPr>
          <a:xfrm>
            <a:off x="7223760" y="-548640"/>
            <a:ext cx="8229600" cy="8229600"/>
          </a:xfrm>
          <a:prstGeom prst="rect">
            <a:avLst/>
          </a:prstGeom>
        </p:spPr>
      </p:pic>
      <p:sp>
        <p:nvSpPr>
          <p:cNvPr id="3" name="TextBox 2"/>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The end result is how people respond</a:t>
            </a:r>
          </a:p>
        </p:txBody>
      </p:sp>
      <p:sp>
        <p:nvSpPr>
          <p:cNvPr id="4" name="TextBox 3"/>
          <p:cNvSpPr txBox="1"/>
          <p:nvPr/>
        </p:nvSpPr>
        <p:spPr>
          <a:xfrm>
            <a:off x="914400" y="2377440"/>
            <a:ext cx="7863840" cy="1463040"/>
          </a:xfrm>
          <a:prstGeom prst="rect">
            <a:avLst/>
          </a:prstGeom>
          <a:noFill/>
        </p:spPr>
        <p:txBody>
          <a:bodyPr wrap="square" lIns="0" rIns="0" tIns="0" bIns="0" anchor="t">
            <a:noAutofit/>
          </a:bodyPr>
          <a:lstStyle/>
          <a:p>
            <a:pPr algn="l">
              <a:lnSpc>
                <a:spcPct val="115000"/>
              </a:lnSpc>
            </a:pPr>
            <a:r>
              <a:rPr sz="2180" b="0" i="1">
                <a:solidFill>
                  <a:srgbClr val="111A20"/>
                </a:solidFill>
                <a:latin typeface="Athelas"/>
              </a:rPr>
              <a:t>Noéa</a:t>
            </a:r>
            <a:r>
              <a:rPr sz="2180" b="0" i="0">
                <a:solidFill>
                  <a:srgbClr val="111A20"/>
                </a:solidFill>
                <a:latin typeface="Athelas"/>
              </a:rPr>
              <a:t> links machine intelligence to natural intelligence.</a:t>
            </a:r>
          </a:p>
        </p:txBody>
      </p:sp>
      <p:cxnSp>
        <p:nvCxnSpPr>
          <p:cNvPr id="5" name="Connector 4"/>
          <p:cNvCxnSpPr/>
          <p:nvPr/>
        </p:nvCxnSpPr>
        <p:spPr>
          <a:xfrm>
            <a:off x="914400" y="3794760"/>
            <a:ext cx="109728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 y="4023360"/>
            <a:ext cx="7863840" cy="1097280"/>
          </a:xfrm>
          <a:prstGeom prst="rect">
            <a:avLst/>
          </a:prstGeom>
          <a:noFill/>
        </p:spPr>
        <p:txBody>
          <a:bodyPr wrap="square" lIns="0" rIns="0" tIns="0" bIns="0" anchor="t">
            <a:noAutofit/>
          </a:bodyPr>
          <a:lstStyle/>
          <a:p>
            <a:pPr algn="l">
              <a:lnSpc>
                <a:spcPct val="115000"/>
              </a:lnSpc>
            </a:pPr>
            <a:r>
              <a:rPr sz="1850" b="0" i="1">
                <a:solidFill>
                  <a:srgbClr val="00526F"/>
                </a:solidFill>
                <a:latin typeface="Athelas"/>
              </a:rPr>
              <a:t>Do people feel what it flags? That is the research.</a:t>
            </a:r>
          </a:p>
        </p:txBody>
      </p:sp>
      <p:sp>
        <p:nvSpPr>
          <p:cNvPr id="7" name="TextBox 6"/>
          <p:cNvSpPr txBox="1"/>
          <p:nvPr/>
        </p:nvSpPr>
        <p:spPr>
          <a:xfrm>
            <a:off x="7162495" y="6309360"/>
            <a:ext cx="3383280" cy="274320"/>
          </a:xfrm>
          <a:prstGeom prst="rect">
            <a:avLst/>
          </a:prstGeom>
          <a:noFill/>
        </p:spPr>
        <p:txBody>
          <a:bodyPr wrap="square" lIns="0" rIns="0" tIns="0" bIns="0" anchor="t">
            <a:noAutofit/>
          </a:bodyPr>
          <a:lstStyle/>
          <a:p>
            <a:pPr algn="r"/>
            <a:r>
              <a:rPr sz="1000" b="1" i="0">
                <a:solidFill>
                  <a:srgbClr val="00526F"/>
                </a:solidFill>
                <a:latin typeface="Frutiger"/>
              </a:rPr>
              <a:t>meetingofwaters.org/noea</a:t>
            </a:r>
          </a:p>
        </p:txBody>
      </p:sp>
      <p:pic>
        <p:nvPicPr>
          <p:cNvPr id="8" name="Picture 7" descr="logo.png"/>
          <p:cNvPicPr>
            <a:picLocks noChangeAspect="1"/>
          </p:cNvPicPr>
          <p:nvPr/>
        </p:nvPicPr>
        <p:blipFill>
          <a:blip r:embed="rId4"/>
          <a:stretch>
            <a:fillRect/>
          </a:stretch>
        </p:blipFill>
        <p:spPr>
          <a:xfrm>
            <a:off x="914400" y="6236208"/>
            <a:ext cx="2120348" cy="292608"/>
          </a:xfrm>
          <a:prstGeom prst="rect">
            <a:avLst/>
          </a:prstGeom>
        </p:spPr>
      </p:pic>
      <p:sp>
        <p:nvSpPr>
          <p:cNvPr id="9" name="TextBox 8"/>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Noéa — an introduction</dc:title>
  <dc:subject/>
  <dc:creator>Meeting of Waters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