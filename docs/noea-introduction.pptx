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ECG below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hydrological records into something people can experience. It reads a rainfall or river record the way a cardiologist reads an ECG, looking for rhythm, memory and shock. From that it derives two affective values, valence and arousal: how pleasant or distressing, and how activated. Those are designed to feed into an XR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 is built to be universal, where each record fits its own model on its own history. Public records of Hong Kong and the Rhine are the two we've tested. And another rainfall or river record can go through the same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diagnostic layer is plain science: for Hong Kong, over a century of daily rainfall; for the Rhine and its alpine tributaries, eight stations of discharge. The second layer is curatorial, which is currently kept separate from the measurements, so the feeling would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connects machine intelligence to natural intelligence: a model learns the rhythm of a river or rainfall record and flags when it breaks. How people respond to that now has to be tested in human labs, with HCI methods. That is the 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8229600" cy="1737360"/>
          </a:xfrm>
          <a:prstGeom prst="rect">
            <a:avLst/>
          </a:prstGeom>
          <a:noFill/>
        </p:spPr>
        <p:txBody>
          <a:bodyPr wrap="square" lIns="0" rIns="0" tIns="0" bIns="0" anchor="t">
            <a:noAutofit/>
          </a:bodyPr>
          <a:lstStyle/>
          <a:p>
            <a:pPr algn="l"/>
            <a:r>
              <a:rPr sz="9410" b="0" i="0">
                <a:solidFill>
                  <a:srgbClr val="111A20"/>
                </a:solidFill>
                <a:latin typeface="Athelas"/>
              </a:rPr>
              <a:t>Noéa</a:t>
            </a:r>
          </a:p>
        </p:txBody>
      </p:sp>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3"/>
          <a:stretch>
            <a:fillRect/>
          </a:stretch>
        </p:blipFill>
        <p:spPr>
          <a:xfrm>
            <a:off x="914400" y="3840480"/>
            <a:ext cx="10362895" cy="1342645"/>
          </a:xfrm>
          <a:prstGeom prst="rect">
            <a:avLst/>
          </a:prstGeom>
        </p:spPr>
      </p:pic>
      <p:sp>
        <p:nvSpPr>
          <p:cNvPr id="6" name="TextBox 5"/>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011680"/>
            <a:ext cx="10362895" cy="2194560"/>
          </a:xfrm>
          <a:prstGeom prst="rect">
            <a:avLst/>
          </a:prstGeom>
          <a:noFill/>
        </p:spPr>
        <p:txBody>
          <a:bodyPr wrap="square" lIns="0" rIns="0" tIns="0" bIns="0" anchor="t">
            <a:noAutofit/>
          </a:bodyPr>
          <a:lstStyle/>
          <a:p>
            <a:pPr algn="l">
              <a:lnSpc>
                <a:spcPct val="110000"/>
              </a:lnSpc>
            </a:pPr>
            <a:r>
              <a:rPr sz="3860" b="0" i="0">
                <a:solidFill>
                  <a:srgbClr val="111A20"/>
                </a:solidFill>
                <a:latin typeface="Athelas"/>
              </a:rPr>
              <a:t>Data can show that a river is changing. It rarely makes anyone feel it.</a:t>
            </a:r>
          </a:p>
        </p:txBody>
      </p:sp>
      <p:cxnSp>
        <p:nvCxnSpPr>
          <p:cNvPr id="3" name="Connector 2"/>
          <p:cNvCxnSpPr/>
          <p:nvPr/>
        </p:nvCxnSpPr>
        <p:spPr>
          <a:xfrm>
            <a:off x="914400" y="420624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434840"/>
            <a:ext cx="10362895" cy="91440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Noéa works in the missing layer: turning measurement into meaning people can experience.</a:t>
            </a:r>
          </a:p>
        </p:txBody>
      </p:sp>
      <p:pic>
        <p:nvPicPr>
          <p:cNvPr id="5" name="Picture 4" descr="logo.png"/>
          <p:cNvPicPr>
            <a:picLocks noChangeAspect="1"/>
          </p:cNvPicPr>
          <p:nvPr/>
        </p:nvPicPr>
        <p:blipFill>
          <a:blip r:embed="rId3"/>
          <a:stretch>
            <a:fillRect/>
          </a:stretch>
        </p:blipFill>
        <p:spPr>
          <a:xfrm>
            <a:off x="914400" y="6236208"/>
            <a:ext cx="2120348" cy="292608"/>
          </a:xfrm>
          <a:prstGeom prst="rect">
            <a:avLst/>
          </a:prstGeom>
        </p:spPr>
      </p:pic>
      <p:sp>
        <p:nvSpPr>
          <p:cNvPr id="6" name="TextBox 5"/>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distressing.</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experience</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Designed to feed an immersive XR experience.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Built to be universal</a:t>
            </a:r>
          </a:p>
        </p:txBody>
      </p:sp>
      <p:sp>
        <p:nvSpPr>
          <p:cNvPr id="3" name="TextBox 2"/>
          <p:cNvSpPr txBox="1"/>
          <p:nvPr/>
        </p:nvSpPr>
        <p:spPr>
          <a:xfrm>
            <a:off x="914400" y="2057400"/>
            <a:ext cx="10362895" cy="1371600"/>
          </a:xfrm>
          <a:prstGeom prst="rect">
            <a:avLst/>
          </a:prstGeom>
          <a:noFill/>
        </p:spPr>
        <p:txBody>
          <a:bodyPr wrap="square" lIns="0" rIns="0" tIns="0" bIns="0" anchor="t">
            <a:noAutofit/>
          </a:bodyPr>
          <a:lstStyle/>
          <a:p>
            <a:pPr algn="l">
              <a:lnSpc>
                <a:spcPct val="115000"/>
              </a:lnSpc>
            </a:pPr>
            <a:r>
              <a:rPr sz="2270" b="0" i="0">
                <a:solidFill>
                  <a:srgbClr val="111A20"/>
                </a:solidFill>
                <a:latin typeface="Athelas"/>
              </a:rPr>
              <a:t>Each record fits its own model on its own history. Another rainfall or river record can go through the same pipeline.</a:t>
            </a:r>
          </a:p>
        </p:txBody>
      </p:sp>
      <p:cxnSp>
        <p:nvCxnSpPr>
          <p:cNvPr id="4" name="Connector 3"/>
          <p:cNvCxnSpPr/>
          <p:nvPr/>
        </p:nvCxnSpPr>
        <p:spPr>
          <a:xfrm>
            <a:off x="914400" y="370332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886200"/>
            <a:ext cx="3840480" cy="457200"/>
          </a:xfrm>
          <a:prstGeom prst="rect">
            <a:avLst/>
          </a:prstGeom>
          <a:noFill/>
        </p:spPr>
        <p:txBody>
          <a:bodyPr wrap="square" lIns="0" rIns="0" tIns="0" bIns="0" anchor="t">
            <a:noAutofit/>
          </a:bodyPr>
          <a:lstStyle/>
          <a:p>
            <a:pPr algn="l"/>
            <a:r>
              <a:rPr sz="1760" b="0" i="0">
                <a:solidFill>
                  <a:srgbClr val="111A20"/>
                </a:solidFill>
                <a:latin typeface="Athelas"/>
              </a:rPr>
              <a:t>Hong Kong rainfall</a:t>
            </a:r>
          </a:p>
        </p:txBody>
      </p:sp>
      <p:sp>
        <p:nvSpPr>
          <p:cNvPr id="6" name="TextBox 5"/>
          <p:cNvSpPr txBox="1"/>
          <p:nvPr/>
        </p:nvSpPr>
        <p:spPr>
          <a:xfrm>
            <a:off x="4937760" y="395020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 Hong Kong Observatory. Daily, 1884–2025.</a:t>
            </a:r>
          </a:p>
        </p:txBody>
      </p:sp>
      <p:cxnSp>
        <p:nvCxnSpPr>
          <p:cNvPr id="7" name="Connector 6"/>
          <p:cNvCxnSpPr/>
          <p:nvPr/>
        </p:nvCxnSpPr>
        <p:spPr>
          <a:xfrm>
            <a:off x="914400" y="443484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617720"/>
            <a:ext cx="3840480" cy="457200"/>
          </a:xfrm>
          <a:prstGeom prst="rect">
            <a:avLst/>
          </a:prstGeom>
          <a:noFill/>
        </p:spPr>
        <p:txBody>
          <a:bodyPr wrap="square" lIns="0" rIns="0" tIns="0" bIns="0" anchor="t">
            <a:noAutofit/>
          </a:bodyPr>
          <a:lstStyle/>
          <a:p>
            <a:pPr algn="l"/>
            <a:r>
              <a:rPr sz="1760" b="0" i="0">
                <a:solidFill>
                  <a:srgbClr val="111A20"/>
                </a:solidFill>
                <a:latin typeface="Athelas"/>
              </a:rPr>
              <a:t>Rhine and alpine rivers</a:t>
            </a:r>
          </a:p>
        </p:txBody>
      </p:sp>
      <p:sp>
        <p:nvSpPr>
          <p:cNvPr id="9" name="TextBox 8"/>
          <p:cNvSpPr txBox="1"/>
          <p:nvPr/>
        </p:nvSpPr>
        <p:spPr>
          <a:xfrm>
            <a:off x="4937760" y="4681727"/>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records, GRDC and FOEN. Daily, 8 stations.</a:t>
            </a:r>
          </a:p>
        </p:txBody>
      </p:sp>
      <p:cxnSp>
        <p:nvCxnSpPr>
          <p:cNvPr id="10" name="Connector 9"/>
          <p:cNvCxnSpPr/>
          <p:nvPr/>
        </p:nvCxnSpPr>
        <p:spPr>
          <a:xfrm>
            <a:off x="914400" y="5166359"/>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5349240"/>
            <a:ext cx="3840480" cy="457200"/>
          </a:xfrm>
          <a:prstGeom prst="rect">
            <a:avLst/>
          </a:prstGeom>
          <a:noFill/>
        </p:spPr>
        <p:txBody>
          <a:bodyPr wrap="square" lIns="0" rIns="0" tIns="0" bIns="0" anchor="t">
            <a:noAutofit/>
          </a:bodyPr>
          <a:lstStyle/>
          <a:p>
            <a:pPr algn="l"/>
            <a:r>
              <a:rPr sz="1760" b="0" i="0">
                <a:solidFill>
                  <a:srgbClr val="5F6F78"/>
                </a:solidFill>
                <a:latin typeface="Athelas"/>
              </a:rPr>
              <a:t>The next record</a:t>
            </a:r>
          </a:p>
        </p:txBody>
      </p:sp>
      <p:sp>
        <p:nvSpPr>
          <p:cNvPr id="12" name="TextBox 11"/>
          <p:cNvSpPr txBox="1"/>
          <p:nvPr/>
        </p:nvSpPr>
        <p:spPr>
          <a:xfrm>
            <a:off x="4937760" y="5413248"/>
            <a:ext cx="6339535" cy="457200"/>
          </a:xfrm>
          <a:prstGeom prst="rect">
            <a:avLst/>
          </a:prstGeom>
          <a:noFill/>
        </p:spPr>
        <p:txBody>
          <a:bodyPr wrap="square" lIns="0" rIns="0" tIns="0" bIns="0" anchor="t">
            <a:noAutofit/>
          </a:bodyPr>
          <a:lstStyle/>
          <a:p>
            <a:pPr algn="l"/>
            <a:r>
              <a:rPr sz="1180" b="0" i="0">
                <a:solidFill>
                  <a:srgbClr val="5F6F78"/>
                </a:solidFill>
                <a:latin typeface="Frutiger"/>
              </a:rPr>
              <a:t>Not yet run. Tested on two records so far.</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Diagnostic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PLAIN SCIENCE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Hong Kong rainfall, 1884–2025: annual peaks, the gaps between them, return periods.</a:t>
            </a:r>
          </a:p>
          <a:p>
            <a:pPr algn="l">
              <a:lnSpc>
                <a:spcPct val="112000"/>
              </a:lnSpc>
              <a:spcAft>
                <a:spcPts val="1200"/>
              </a:spcAft>
            </a:pPr>
            <a:r>
              <a:rPr sz="1390" b="0" i="0">
                <a:solidFill>
                  <a:srgbClr val="111A20"/>
                </a:solidFill>
                <a:latin typeface="Frutiger"/>
              </a:rPr>
              <a:t>Rhine and alpine rivers, 8 stations: flow duration, recession, the seasonal cycle.</a:t>
            </a:r>
          </a:p>
          <a:p>
            <a:pPr algn="l">
              <a:lnSpc>
                <a:spcPct val="112000"/>
              </a:lnSpc>
              <a:spcAft>
                <a:spcPts val="1200"/>
              </a:spcAft>
            </a:pPr>
            <a:r>
              <a:rPr sz="1390" b="0" i="0">
                <a:solidFill>
                  <a:srgbClr val="111A20"/>
                </a:solidFill>
                <a:latin typeface="Frutiger"/>
              </a:rPr>
              <a:t>Measures what happened, and is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how the results should feel: how alarming, how heavy.</a:t>
            </a:r>
          </a:p>
          <a:p>
            <a:pPr algn="l">
              <a:lnSpc>
                <a:spcPct val="112000"/>
              </a:lnSpc>
              <a:spcAft>
                <a:spcPts val="1200"/>
              </a:spcAft>
            </a:pPr>
            <a:r>
              <a:rPr sz="1390" b="0" i="0">
                <a:solidFill>
                  <a:srgbClr val="111A20"/>
                </a:solidFill>
                <a:latin typeface="Frutiger"/>
              </a:rPr>
              <a:t>Currently kept separate from the measurements, so the feeling could be redesigned without changing any of the science.</a:t>
            </a:r>
          </a:p>
          <a:p>
            <a:pPr algn="l">
              <a:lnSpc>
                <a:spcPct val="112000"/>
              </a:lnSpc>
              <a:spcAft>
                <a:spcPts val="1200"/>
              </a:spcAft>
            </a:pPr>
            <a:r>
              <a:rPr sz="139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Its one job so far, unsupervised: learn what a typical year looks like, then score how badly each year fits.</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260" b="1" i="0">
                <a:solidFill>
                  <a:srgbClr val="111A20"/>
                </a:solidFill>
                <a:latin typeface="Frutiger"/>
              </a:rPr>
              <a:t>The highlighted bar is each station's highest-scoring year. </a:t>
            </a:r>
            <a:r>
              <a:rPr sz="126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3" name="TextBox 2"/>
          <p:cNvSpPr txBox="1"/>
          <p:nvPr/>
        </p:nvSpPr>
        <p:spPr>
          <a:xfrm>
            <a:off x="914400" y="2103120"/>
            <a:ext cx="10362895" cy="1828800"/>
          </a:xfrm>
          <a:prstGeom prst="rect">
            <a:avLst/>
          </a:prstGeom>
          <a:noFill/>
        </p:spPr>
        <p:txBody>
          <a:bodyPr wrap="square" lIns="0" rIns="0" tIns="0" bIns="0" anchor="t">
            <a:noAutofit/>
          </a:bodyPr>
          <a:lstStyle/>
          <a:p>
            <a:pPr algn="l">
              <a:lnSpc>
                <a:spcPct val="115000"/>
              </a:lnSpc>
            </a:pPr>
            <a:r>
              <a:rPr sz="2180" b="0" i="0">
                <a:solidFill>
                  <a:srgbClr val="111A20"/>
                </a:solidFill>
                <a:latin typeface="Athelas"/>
              </a:rPr>
              <a:t>Noéa connects machine intelligence to natural intelligence: a model learns the rhythm of a river or rainfall record and flags when it breaks.</a:t>
            </a:r>
          </a:p>
        </p:txBody>
      </p:sp>
      <p:cxnSp>
        <p:nvCxnSpPr>
          <p:cNvPr id="4" name="Connector 3"/>
          <p:cNvCxnSpPr/>
          <p:nvPr/>
        </p:nvCxnSpPr>
        <p:spPr>
          <a:xfrm>
            <a:off x="914400" y="416052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389120"/>
            <a:ext cx="10362895" cy="128016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How people respond to that now has to be tested in human labs, with HCI methods. That is the research.</a:t>
            </a:r>
          </a:p>
        </p:txBody>
      </p:sp>
      <p:sp>
        <p:nvSpPr>
          <p:cNvPr id="6" name="TextBox 5"/>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meetingofwaters.org/noea</a:t>
            </a:r>
          </a:p>
        </p:txBody>
      </p:sp>
      <p:pic>
        <p:nvPicPr>
          <p:cNvPr id="7" name="Picture 6" descr="logo.png"/>
          <p:cNvPicPr>
            <a:picLocks noChangeAspect="1"/>
          </p:cNvPicPr>
          <p:nvPr/>
        </p:nvPicPr>
        <p:blipFill>
          <a:blip r:embed="rId3"/>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