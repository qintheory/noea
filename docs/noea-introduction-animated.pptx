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Noéa translates long hydrological records into something people can experience. The ECG below is real data: Hong Kong's annual peak daily rainfall, 1884 to 2025, one beat per year.</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More stations measure more rain and more rivers every year. The data can tell us a river is changing. What it rarely does is make anyone feel it, and without that, decisions stall.</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Noéa reads a rainfall or river record the way a cardiologist reads an ECG, looking for rhythm, memory and shock. From that it derives two affective values, valence and arousal: how pleasant or distressing, and how activated. Those are designed to feed an XR and sound experience.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There are two layers, kept deliberately apart. The first is plain science: it measures what happened. For Hong Kong, over a century of daily rainfall from the Observatory; for the Rhine and its alpine tributaries, eight stations of discharge. The second layer is curatorial: it decides what a drought or a flood should feel like, how alarming or how heavy. It is kept separate from the measurements, so the feeling can be redesigned without changing any of the science.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Machine learning has one job so far: finding unusual years. For each record, an unsupervised model learns what a typical year looks like, then scores how badly each year fails to fit. On the Rhine, its highest-scoring years include the August 2005 Alpine flood, the May 1999 Swiss flood, and the Christmas 1993 flood. It was never told those events existed.</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method isn't specific to these places. Each record fits its own model on its own history, so another rainfall or river record can go through the same pipeline. Hong Kong and the Rhine are the two I've tested.</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model's output is a score, not a feeling. What a flagged year should feel like, and whether people actually feel it, comes from people, not from the model. So the real result is how people respond: whether they perceive what the system intends, whether they understand what a flag, or a missing flag, means, and whether it helps the people who have to decide. That is the research, and nobody has tested it yet.</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 Id="rId3" Type="http://schemas.openxmlformats.org/officeDocument/2006/relationships/image" Target="../media/image1.png"/><Relationship Id="rId4" Type="http://schemas.openxmlformats.org/officeDocument/2006/relationships/image" Target="../media/image2.png"/><Relationship Id="rId5" Type="http://schemas.openxmlformats.org/officeDocument/2006/relationships/image" Target="../media/image3.png"/><Relationship Id="rId6" Type="http://schemas.openxmlformats.org/officeDocument/2006/relationships/image" Target="../media/image4.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 Id="rId3" Type="http://schemas.openxmlformats.org/officeDocument/2006/relationships/image" Target="../media/image4.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 Id="rId3" Type="http://schemas.openxmlformats.org/officeDocument/2006/relationships/image" Target="../media/image4.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 Id="rId3" Type="http://schemas.openxmlformats.org/officeDocument/2006/relationships/image" Target="../media/image4.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 Id="rId3" Type="http://schemas.openxmlformats.org/officeDocument/2006/relationships/image" Target="../media/image5.png"/><Relationship Id="rId4" Type="http://schemas.openxmlformats.org/officeDocument/2006/relationships/image" Target="../media/image4.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 Id="rId3" Type="http://schemas.openxmlformats.org/officeDocument/2006/relationships/image" Target="../media/image4.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 Id="rId3" Type="http://schemas.openxmlformats.org/officeDocument/2006/relationships/image" Target="../media/image4.png"/></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914400" y="548640"/>
            <a:ext cx="8229600" cy="1737360"/>
          </a:xfrm>
          <a:prstGeom prst="rect">
            <a:avLst/>
          </a:prstGeom>
          <a:noFill/>
        </p:spPr>
        <p:txBody>
          <a:bodyPr wrap="square" lIns="0" rIns="0" tIns="0" bIns="0" anchor="t">
            <a:noAutofit/>
          </a:bodyPr>
          <a:lstStyle/>
          <a:p>
            <a:pPr algn="l"/>
            <a:r>
              <a:rPr sz="9410" b="0" i="0">
                <a:solidFill>
                  <a:srgbClr val="111A20"/>
                </a:solidFill>
                <a:latin typeface="Athelas"/>
              </a:rPr>
              <a:t>Noéa</a:t>
            </a:r>
          </a:p>
        </p:txBody>
      </p:sp>
      <p:sp>
        <p:nvSpPr>
          <p:cNvPr id="3" name="TextBox 2"/>
          <p:cNvSpPr txBox="1"/>
          <p:nvPr/>
        </p:nvSpPr>
        <p:spPr>
          <a:xfrm>
            <a:off x="914400" y="2194560"/>
            <a:ext cx="10362895" cy="640080"/>
          </a:xfrm>
          <a:prstGeom prst="rect">
            <a:avLst/>
          </a:prstGeom>
          <a:noFill/>
        </p:spPr>
        <p:txBody>
          <a:bodyPr wrap="square" lIns="0" rIns="0" tIns="0" bIns="0" anchor="t">
            <a:noAutofit/>
          </a:bodyPr>
          <a:lstStyle/>
          <a:p>
            <a:pPr algn="l"/>
            <a:r>
              <a:rPr sz="2520" b="0" i="1">
                <a:solidFill>
                  <a:srgbClr val="00526F"/>
                </a:solidFill>
                <a:latin typeface="Athelas"/>
              </a:rPr>
              <a:t>Reading water as rhythm, memory and mood</a:t>
            </a:r>
          </a:p>
        </p:txBody>
      </p:sp>
      <p:sp>
        <p:nvSpPr>
          <p:cNvPr id="4" name="TextBox 3"/>
          <p:cNvSpPr txBox="1"/>
          <p:nvPr/>
        </p:nvSpPr>
        <p:spPr>
          <a:xfrm>
            <a:off x="914400" y="2788920"/>
            <a:ext cx="10362895" cy="365760"/>
          </a:xfrm>
          <a:prstGeom prst="rect">
            <a:avLst/>
          </a:prstGeom>
          <a:noFill/>
        </p:spPr>
        <p:txBody>
          <a:bodyPr wrap="square" lIns="0" rIns="0" tIns="0" bIns="0" anchor="t">
            <a:noAutofit/>
          </a:bodyPr>
          <a:lstStyle/>
          <a:p>
            <a:pPr algn="l"/>
            <a:r>
              <a:rPr sz="1340" b="0" i="0">
                <a:solidFill>
                  <a:srgbClr val="5F6F78"/>
                </a:solidFill>
                <a:latin typeface="Frutiger"/>
              </a:rPr>
              <a:t>Affective computing for water systems</a:t>
            </a:r>
          </a:p>
        </p:txBody>
      </p:sp>
      <p:pic>
        <p:nvPicPr>
          <p:cNvPr id="5" name="Picture 4" descr="ecg_row1.png"/>
          <p:cNvPicPr>
            <a:picLocks noChangeAspect="1"/>
          </p:cNvPicPr>
          <p:nvPr/>
        </p:nvPicPr>
        <p:blipFill>
          <a:blip r:embed="rId3"/>
          <a:stretch>
            <a:fillRect/>
          </a:stretch>
        </p:blipFill>
        <p:spPr>
          <a:xfrm>
            <a:off x="914400" y="3383280"/>
            <a:ext cx="10362895" cy="922808"/>
          </a:xfrm>
          <a:prstGeom prst="rect">
            <a:avLst/>
          </a:prstGeom>
        </p:spPr>
      </p:pic>
      <p:pic>
        <p:nvPicPr>
          <p:cNvPr id="6" name="Picture 5" descr="ecg_row2.png"/>
          <p:cNvPicPr>
            <a:picLocks noChangeAspect="1"/>
          </p:cNvPicPr>
          <p:nvPr/>
        </p:nvPicPr>
        <p:blipFill>
          <a:blip r:embed="rId4"/>
          <a:stretch>
            <a:fillRect/>
          </a:stretch>
        </p:blipFill>
        <p:spPr>
          <a:xfrm>
            <a:off x="914400" y="4121527"/>
            <a:ext cx="10362895" cy="922808"/>
          </a:xfrm>
          <a:prstGeom prst="rect">
            <a:avLst/>
          </a:prstGeom>
        </p:spPr>
      </p:pic>
      <p:pic>
        <p:nvPicPr>
          <p:cNvPr id="7" name="Picture 6" descr="ecg_row3.png"/>
          <p:cNvPicPr>
            <a:picLocks noChangeAspect="1"/>
          </p:cNvPicPr>
          <p:nvPr/>
        </p:nvPicPr>
        <p:blipFill>
          <a:blip r:embed="rId5"/>
          <a:stretch>
            <a:fillRect/>
          </a:stretch>
        </p:blipFill>
        <p:spPr>
          <a:xfrm>
            <a:off x="914400" y="4859774"/>
            <a:ext cx="10362895" cy="922808"/>
          </a:xfrm>
          <a:prstGeom prst="rect">
            <a:avLst/>
          </a:prstGeom>
        </p:spPr>
      </p:pic>
      <p:sp>
        <p:nvSpPr>
          <p:cNvPr id="8" name="TextBox 7"/>
          <p:cNvSpPr txBox="1"/>
          <p:nvPr/>
        </p:nvSpPr>
        <p:spPr>
          <a:xfrm>
            <a:off x="914400" y="5897880"/>
            <a:ext cx="10362895" cy="274320"/>
          </a:xfrm>
          <a:prstGeom prst="rect">
            <a:avLst/>
          </a:prstGeom>
          <a:noFill/>
        </p:spPr>
        <p:txBody>
          <a:bodyPr wrap="square" lIns="0" rIns="0" tIns="0" bIns="0" anchor="t">
            <a:noAutofit/>
          </a:bodyPr>
          <a:lstStyle/>
          <a:p>
            <a:pPr algn="l"/>
            <a:r>
              <a:rPr sz="1000" b="0" i="0">
                <a:solidFill>
                  <a:srgbClr val="5F6F78"/>
                </a:solidFill>
                <a:latin typeface="Frutiger"/>
              </a:rPr>
              <a:t>Hong Kong, 1884–2025: one beat per year. Height is the year's peak daily rainfall; spacing is the time since the previous peak.</a:t>
            </a:r>
          </a:p>
        </p:txBody>
      </p:sp>
      <p:pic>
        <p:nvPicPr>
          <p:cNvPr id="9" name="Picture 8" descr="logo.png"/>
          <p:cNvPicPr>
            <a:picLocks noChangeAspect="1"/>
          </p:cNvPicPr>
          <p:nvPr/>
        </p:nvPicPr>
        <p:blipFill>
          <a:blip r:embed="rId6"/>
          <a:stretch>
            <a:fillRect/>
          </a:stretch>
        </p:blipFill>
        <p:spPr>
          <a:xfrm>
            <a:off x="914400" y="6236208"/>
            <a:ext cx="2120348" cy="292608"/>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12" fill="hold">
                      <p:stCondLst>
                        <p:cond delay="indefinite"/>
                        <p:cond evt="onBegin" delay="0">
                          <p:tn val="2"/>
                        </p:cond>
                      </p:stCondLst>
                      <p:childTnLst>
                        <p:par>
                          <p:cTn id="13" fill="hold">
                            <p:stCondLst>
                              <p:cond delay="0"/>
                            </p:stCondLst>
                            <p:childTnLst>
                              <p:par>
                                <p:cTn id="3" presetID="22" presetClass="entr" presetSubtype="8" fill="hold" nodeType="afterEffect">
                                  <p:stCondLst>
                                    <p:cond delay="500"/>
                                  </p:stCondLst>
                                  <p:childTnLst>
                                    <p:set>
                                      <p:cBhvr>
                                        <p:cTn id="4" dur="1" fill="hold">
                                          <p:stCondLst>
                                            <p:cond delay="0"/>
                                          </p:stCondLst>
                                        </p:cTn>
                                        <p:tgtEl>
                                          <p:spTgt spid="5"/>
                                        </p:tgtEl>
                                        <p:attrNameLst>
                                          <p:attrName>style.visibility</p:attrName>
                                        </p:attrNameLst>
                                      </p:cBhvr>
                                      <p:to>
                                        <p:strVal val="visible"/>
                                      </p:to>
                                    </p:set>
                                    <p:animEffect transition="in" filter="wipe(left)">
                                      <p:cBhvr>
                                        <p:cTn id="5" dur="3200"/>
                                        <p:tgtEl>
                                          <p:spTgt spid="5"/>
                                        </p:tgtEl>
                                      </p:cBhvr>
                                    </p:animEffect>
                                  </p:childTnLst>
                                </p:cTn>
                              </p:par>
                              <p:par>
                                <p:cTn id="6" presetID="22" presetClass="entr" presetSubtype="8" fill="hold" nodeType="withEffect">
                                  <p:stCondLst>
                                    <p:cond delay="3700"/>
                                  </p:stCondLst>
                                  <p:childTnLst>
                                    <p:set>
                                      <p:cBhvr>
                                        <p:cTn id="7" dur="1" fill="hold">
                                          <p:stCondLst>
                                            <p:cond delay="0"/>
                                          </p:stCondLst>
                                        </p:cTn>
                                        <p:tgtEl>
                                          <p:spTgt spid="6"/>
                                        </p:tgtEl>
                                        <p:attrNameLst>
                                          <p:attrName>style.visibility</p:attrName>
                                        </p:attrNameLst>
                                      </p:cBhvr>
                                      <p:to>
                                        <p:strVal val="visible"/>
                                      </p:to>
                                    </p:set>
                                    <p:animEffect transition="in" filter="wipe(left)">
                                      <p:cBhvr>
                                        <p:cTn id="8" dur="3200"/>
                                        <p:tgtEl>
                                          <p:spTgt spid="6"/>
                                        </p:tgtEl>
                                      </p:cBhvr>
                                    </p:animEffect>
                                  </p:childTnLst>
                                </p:cTn>
                              </p:par>
                              <p:par>
                                <p:cTn id="9" presetID="22" presetClass="entr" presetSubtype="8" fill="hold" nodeType="withEffect">
                                  <p:stCondLst>
                                    <p:cond delay="6900"/>
                                  </p:stCondLst>
                                  <p:childTnLst>
                                    <p:set>
                                      <p:cBhvr>
                                        <p:cTn id="10" dur="1" fill="hold">
                                          <p:stCondLst>
                                            <p:cond delay="0"/>
                                          </p:stCondLst>
                                        </p:cTn>
                                        <p:tgtEl>
                                          <p:spTgt spid="7"/>
                                        </p:tgtEl>
                                        <p:attrNameLst>
                                          <p:attrName>style.visibility</p:attrName>
                                        </p:attrNameLst>
                                      </p:cBhvr>
                                      <p:to>
                                        <p:strVal val="visible"/>
                                      </p:to>
                                    </p:set>
                                    <p:animEffect transition="in" filter="wipe(left)">
                                      <p:cBhvr>
                                        <p:cTn id="11" dur="32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914400" y="685800"/>
            <a:ext cx="10362895" cy="1371600"/>
          </a:xfrm>
          <a:prstGeom prst="rect">
            <a:avLst/>
          </a:prstGeom>
          <a:noFill/>
        </p:spPr>
        <p:txBody>
          <a:bodyPr wrap="square" lIns="0" rIns="0" tIns="0" bIns="0" anchor="t">
            <a:noAutofit/>
          </a:bodyPr>
          <a:lstStyle/>
          <a:p>
            <a:pPr algn="l">
              <a:lnSpc>
                <a:spcPct val="105000"/>
              </a:lnSpc>
            </a:pPr>
            <a:r>
              <a:rPr sz="3360" b="0" i="0">
                <a:solidFill>
                  <a:srgbClr val="111A20"/>
                </a:solidFill>
                <a:latin typeface="Athelas"/>
              </a:rPr>
              <a:t>Data can show that a river is changing. It rarely makes anyone feel it.</a:t>
            </a:r>
          </a:p>
        </p:txBody>
      </p:sp>
      <p:cxnSp>
        <p:nvCxnSpPr>
          <p:cNvPr id="3" name="Connector 2"/>
          <p:cNvCxnSpPr/>
          <p:nvPr/>
        </p:nvCxnSpPr>
        <p:spPr>
          <a:xfrm>
            <a:off x="914400" y="3246120"/>
            <a:ext cx="3200400" cy="0"/>
          </a:xfrm>
          <a:prstGeom prst="line">
            <a:avLst/>
          </a:prstGeom>
          <a:ln w="15875">
            <a:solidFill>
              <a:srgbClr val="D3DDE2"/>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914400" y="3520439"/>
            <a:ext cx="3200400" cy="274320"/>
          </a:xfrm>
          <a:prstGeom prst="rect">
            <a:avLst/>
          </a:prstGeom>
          <a:noFill/>
        </p:spPr>
        <p:txBody>
          <a:bodyPr wrap="square" lIns="0" rIns="0" tIns="0" bIns="0" anchor="t">
            <a:noAutofit/>
          </a:bodyPr>
          <a:lstStyle/>
          <a:p>
            <a:pPr algn="l"/>
            <a:r>
              <a:rPr sz="1010" b="1" i="0" spc="140">
                <a:solidFill>
                  <a:srgbClr val="5F6F78"/>
                </a:solidFill>
                <a:latin typeface="Frutiger"/>
              </a:rPr>
              <a:t>DETECT</a:t>
            </a:r>
          </a:p>
        </p:txBody>
      </p:sp>
      <p:sp>
        <p:nvSpPr>
          <p:cNvPr id="5" name="TextBox 4"/>
          <p:cNvSpPr txBox="1"/>
          <p:nvPr/>
        </p:nvSpPr>
        <p:spPr>
          <a:xfrm>
            <a:off x="914400" y="4023359"/>
            <a:ext cx="3017520" cy="1463040"/>
          </a:xfrm>
          <a:prstGeom prst="rect">
            <a:avLst/>
          </a:prstGeom>
          <a:noFill/>
        </p:spPr>
        <p:txBody>
          <a:bodyPr wrap="square" lIns="0" rIns="0" tIns="0" bIns="0" anchor="t">
            <a:noAutofit/>
          </a:bodyPr>
          <a:lstStyle/>
          <a:p>
            <a:pPr algn="l">
              <a:lnSpc>
                <a:spcPct val="112000"/>
              </a:lnSpc>
            </a:pPr>
            <a:r>
              <a:rPr sz="2020" b="0" i="0">
                <a:solidFill>
                  <a:srgbClr val="111A20"/>
                </a:solidFill>
                <a:latin typeface="Athelas"/>
              </a:rPr>
              <a:t>Stations now measure rainfall, rivers and glaciers at scale.</a:t>
            </a:r>
          </a:p>
        </p:txBody>
      </p:sp>
      <p:cxnSp>
        <p:nvCxnSpPr>
          <p:cNvPr id="6" name="Connector 5"/>
          <p:cNvCxnSpPr/>
          <p:nvPr/>
        </p:nvCxnSpPr>
        <p:spPr>
          <a:xfrm>
            <a:off x="4494276" y="3246120"/>
            <a:ext cx="3200399" cy="0"/>
          </a:xfrm>
          <a:prstGeom prst="line">
            <a:avLst/>
          </a:prstGeom>
          <a:ln w="38100">
            <a:solidFill>
              <a:srgbClr val="00526F"/>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4494276" y="3520439"/>
            <a:ext cx="3200400" cy="274320"/>
          </a:xfrm>
          <a:prstGeom prst="rect">
            <a:avLst/>
          </a:prstGeom>
          <a:noFill/>
        </p:spPr>
        <p:txBody>
          <a:bodyPr wrap="square" lIns="0" rIns="0" tIns="0" bIns="0" anchor="t">
            <a:noAutofit/>
          </a:bodyPr>
          <a:lstStyle/>
          <a:p>
            <a:pPr algn="l"/>
            <a:r>
              <a:rPr sz="1010" b="1" i="0" spc="140">
                <a:solidFill>
                  <a:srgbClr val="00526F"/>
                </a:solidFill>
                <a:latin typeface="Frutiger"/>
              </a:rPr>
              <a:t>THE MISSING LAYER</a:t>
            </a:r>
          </a:p>
        </p:txBody>
      </p:sp>
      <p:sp>
        <p:nvSpPr>
          <p:cNvPr id="8" name="TextBox 7"/>
          <p:cNvSpPr txBox="1"/>
          <p:nvPr/>
        </p:nvSpPr>
        <p:spPr>
          <a:xfrm>
            <a:off x="4494276" y="4023359"/>
            <a:ext cx="3017520" cy="1463040"/>
          </a:xfrm>
          <a:prstGeom prst="rect">
            <a:avLst/>
          </a:prstGeom>
          <a:noFill/>
        </p:spPr>
        <p:txBody>
          <a:bodyPr wrap="square" lIns="0" rIns="0" tIns="0" bIns="0" anchor="t">
            <a:noAutofit/>
          </a:bodyPr>
          <a:lstStyle/>
          <a:p>
            <a:pPr algn="l">
              <a:lnSpc>
                <a:spcPct val="112000"/>
              </a:lnSpc>
            </a:pPr>
            <a:r>
              <a:rPr sz="2020" b="0" i="0">
                <a:solidFill>
                  <a:srgbClr val="111A20"/>
                </a:solidFill>
                <a:latin typeface="Athelas"/>
              </a:rPr>
              <a:t>Turning measurement into meaning people can experience.</a:t>
            </a:r>
          </a:p>
        </p:txBody>
      </p:sp>
      <p:cxnSp>
        <p:nvCxnSpPr>
          <p:cNvPr id="9" name="Connector 8"/>
          <p:cNvCxnSpPr/>
          <p:nvPr/>
        </p:nvCxnSpPr>
        <p:spPr>
          <a:xfrm>
            <a:off x="8074152" y="3246120"/>
            <a:ext cx="3200400" cy="0"/>
          </a:xfrm>
          <a:prstGeom prst="line">
            <a:avLst/>
          </a:prstGeom>
          <a:ln w="15875">
            <a:solidFill>
              <a:srgbClr val="D3DDE2"/>
            </a:solidFill>
          </a:ln>
        </p:spPr>
        <p:style>
          <a:lnRef idx="2">
            <a:schemeClr val="accent1"/>
          </a:lnRef>
          <a:fillRef idx="0">
            <a:schemeClr val="accent1"/>
          </a:fillRef>
          <a:effectRef idx="1">
            <a:schemeClr val="accent1"/>
          </a:effectRef>
          <a:fontRef idx="minor">
            <a:schemeClr val="tx1"/>
          </a:fontRef>
        </p:style>
      </p:cxnSp>
      <p:sp>
        <p:nvSpPr>
          <p:cNvPr id="10" name="TextBox 9"/>
          <p:cNvSpPr txBox="1"/>
          <p:nvPr/>
        </p:nvSpPr>
        <p:spPr>
          <a:xfrm>
            <a:off x="8074152" y="3520439"/>
            <a:ext cx="3200400" cy="274320"/>
          </a:xfrm>
          <a:prstGeom prst="rect">
            <a:avLst/>
          </a:prstGeom>
          <a:noFill/>
        </p:spPr>
        <p:txBody>
          <a:bodyPr wrap="square" lIns="0" rIns="0" tIns="0" bIns="0" anchor="t">
            <a:noAutofit/>
          </a:bodyPr>
          <a:lstStyle/>
          <a:p>
            <a:pPr algn="l"/>
            <a:r>
              <a:rPr sz="1010" b="1" i="0" spc="140">
                <a:solidFill>
                  <a:srgbClr val="5F6F78"/>
                </a:solidFill>
                <a:latin typeface="Frutiger"/>
              </a:rPr>
              <a:t>RESPOND</a:t>
            </a:r>
          </a:p>
        </p:txBody>
      </p:sp>
      <p:sp>
        <p:nvSpPr>
          <p:cNvPr id="11" name="TextBox 10"/>
          <p:cNvSpPr txBox="1"/>
          <p:nvPr/>
        </p:nvSpPr>
        <p:spPr>
          <a:xfrm>
            <a:off x="8074152" y="4023359"/>
            <a:ext cx="3017520" cy="1463040"/>
          </a:xfrm>
          <a:prstGeom prst="rect">
            <a:avLst/>
          </a:prstGeom>
          <a:noFill/>
        </p:spPr>
        <p:txBody>
          <a:bodyPr wrap="square" lIns="0" rIns="0" tIns="0" bIns="0" anchor="t">
            <a:noAutofit/>
          </a:bodyPr>
          <a:lstStyle/>
          <a:p>
            <a:pPr algn="l">
              <a:lnSpc>
                <a:spcPct val="112000"/>
              </a:lnSpc>
            </a:pPr>
            <a:r>
              <a:rPr sz="2020" b="0" i="0">
                <a:solidFill>
                  <a:srgbClr val="111A20"/>
                </a:solidFill>
                <a:latin typeface="Athelas"/>
              </a:rPr>
              <a:t>Decisions stall between knowing and acting.</a:t>
            </a:r>
          </a:p>
        </p:txBody>
      </p:sp>
      <p:sp>
        <p:nvSpPr>
          <p:cNvPr id="12" name="TextBox 11"/>
          <p:cNvSpPr txBox="1"/>
          <p:nvPr/>
        </p:nvSpPr>
        <p:spPr>
          <a:xfrm>
            <a:off x="4494276" y="5349240"/>
            <a:ext cx="3200400" cy="365760"/>
          </a:xfrm>
          <a:prstGeom prst="rect">
            <a:avLst/>
          </a:prstGeom>
          <a:noFill/>
        </p:spPr>
        <p:txBody>
          <a:bodyPr wrap="square" lIns="0" rIns="0" tIns="0" bIns="0" anchor="t">
            <a:noAutofit/>
          </a:bodyPr>
          <a:lstStyle/>
          <a:p>
            <a:pPr algn="l"/>
            <a:r>
              <a:rPr sz="1340" b="1" i="0">
                <a:solidFill>
                  <a:srgbClr val="00526F"/>
                </a:solidFill>
                <a:latin typeface="Frutiger"/>
              </a:rPr>
              <a:t>Noéa works in the middle.</a:t>
            </a:r>
          </a:p>
        </p:txBody>
      </p:sp>
      <p:pic>
        <p:nvPicPr>
          <p:cNvPr id="13" name="Picture 12" descr="logo.png"/>
          <p:cNvPicPr>
            <a:picLocks noChangeAspect="1"/>
          </p:cNvPicPr>
          <p:nvPr/>
        </p:nvPicPr>
        <p:blipFill>
          <a:blip r:embed="rId3"/>
          <a:stretch>
            <a:fillRect/>
          </a:stretch>
        </p:blipFill>
        <p:spPr>
          <a:xfrm>
            <a:off x="914400" y="6236208"/>
            <a:ext cx="2120348" cy="292608"/>
          </a:xfrm>
          <a:prstGeom prst="rect">
            <a:avLst/>
          </a:prstGeom>
        </p:spPr>
      </p:pic>
      <p:sp>
        <p:nvSpPr>
          <p:cNvPr id="14" name="TextBox 13"/>
          <p:cNvSpPr txBox="1"/>
          <p:nvPr/>
        </p:nvSpPr>
        <p:spPr>
          <a:xfrm>
            <a:off x="10637215" y="6309360"/>
            <a:ext cx="640080" cy="274320"/>
          </a:xfrm>
          <a:prstGeom prst="rect">
            <a:avLst/>
          </a:prstGeom>
          <a:noFill/>
        </p:spPr>
        <p:txBody>
          <a:bodyPr wrap="square" lIns="0" rIns="0" tIns="0" bIns="0" anchor="t">
            <a:noAutofit/>
          </a:bodyPr>
          <a:lstStyle/>
          <a:p>
            <a:pPr algn="r"/>
            <a:r>
              <a:rPr sz="1000" b="0" i="0">
                <a:solidFill>
                  <a:srgbClr val="5F6F78"/>
                </a:solidFill>
                <a:latin typeface="Frutiger"/>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914400" y="685800"/>
            <a:ext cx="10362895" cy="1371600"/>
          </a:xfrm>
          <a:prstGeom prst="rect">
            <a:avLst/>
          </a:prstGeom>
          <a:noFill/>
        </p:spPr>
        <p:txBody>
          <a:bodyPr wrap="square" lIns="0" rIns="0" tIns="0" bIns="0" anchor="t">
            <a:noAutofit/>
          </a:bodyPr>
          <a:lstStyle/>
          <a:p>
            <a:pPr algn="l">
              <a:lnSpc>
                <a:spcPct val="105000"/>
              </a:lnSpc>
            </a:pPr>
            <a:r>
              <a:rPr sz="3020" b="0" i="0">
                <a:solidFill>
                  <a:srgbClr val="111A20"/>
                </a:solidFill>
                <a:latin typeface="Athelas"/>
              </a:rPr>
              <a:t>It reads a record the way a cardiologist reads an ECG</a:t>
            </a:r>
          </a:p>
        </p:txBody>
      </p:sp>
      <p:cxnSp>
        <p:nvCxnSpPr>
          <p:cNvPr id="3" name="Connector 2"/>
          <p:cNvCxnSpPr/>
          <p:nvPr/>
        </p:nvCxnSpPr>
        <p:spPr>
          <a:xfrm>
            <a:off x="914400" y="2514600"/>
            <a:ext cx="2377440" cy="0"/>
          </a:xfrm>
          <a:prstGeom prst="line">
            <a:avLst/>
          </a:prstGeom>
          <a:ln w="15875">
            <a:solidFill>
              <a:srgbClr val="D3DDE2"/>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914400" y="2743200"/>
            <a:ext cx="2377440" cy="274320"/>
          </a:xfrm>
          <a:prstGeom prst="rect">
            <a:avLst/>
          </a:prstGeom>
          <a:noFill/>
        </p:spPr>
        <p:txBody>
          <a:bodyPr wrap="square" lIns="0" rIns="0" tIns="0" bIns="0" anchor="t">
            <a:noAutofit/>
          </a:bodyPr>
          <a:lstStyle/>
          <a:p>
            <a:pPr algn="l"/>
            <a:r>
              <a:rPr sz="1090" b="1" i="0" spc="100">
                <a:solidFill>
                  <a:srgbClr val="5390A2"/>
                </a:solidFill>
                <a:latin typeface="Frutiger"/>
              </a:rPr>
              <a:t>01</a:t>
            </a:r>
          </a:p>
        </p:txBody>
      </p:sp>
      <p:sp>
        <p:nvSpPr>
          <p:cNvPr id="5" name="TextBox 4"/>
          <p:cNvSpPr txBox="1"/>
          <p:nvPr/>
        </p:nvSpPr>
        <p:spPr>
          <a:xfrm>
            <a:off x="914400" y="3154680"/>
            <a:ext cx="2377440" cy="822960"/>
          </a:xfrm>
          <a:prstGeom prst="rect">
            <a:avLst/>
          </a:prstGeom>
          <a:noFill/>
        </p:spPr>
        <p:txBody>
          <a:bodyPr wrap="square" lIns="0" rIns="0" tIns="0" bIns="0" anchor="t">
            <a:noAutofit/>
          </a:bodyPr>
          <a:lstStyle/>
          <a:p>
            <a:pPr algn="l">
              <a:lnSpc>
                <a:spcPct val="100000"/>
              </a:lnSpc>
            </a:pPr>
            <a:r>
              <a:rPr sz="1930" b="0" i="0">
                <a:solidFill>
                  <a:srgbClr val="111A20"/>
                </a:solidFill>
                <a:latin typeface="Athelas"/>
              </a:rPr>
              <a:t>A long record</a:t>
            </a:r>
          </a:p>
        </p:txBody>
      </p:sp>
      <p:sp>
        <p:nvSpPr>
          <p:cNvPr id="6" name="TextBox 5"/>
          <p:cNvSpPr txBox="1"/>
          <p:nvPr/>
        </p:nvSpPr>
        <p:spPr>
          <a:xfrm>
            <a:off x="914400" y="3931920"/>
            <a:ext cx="2331720" cy="2011680"/>
          </a:xfrm>
          <a:prstGeom prst="rect">
            <a:avLst/>
          </a:prstGeom>
          <a:noFill/>
        </p:spPr>
        <p:txBody>
          <a:bodyPr wrap="square" lIns="0" rIns="0" tIns="0" bIns="0" anchor="t">
            <a:noAutofit/>
          </a:bodyPr>
          <a:lstStyle/>
          <a:p>
            <a:pPr algn="l">
              <a:lnSpc>
                <a:spcPct val="112000"/>
              </a:lnSpc>
              <a:spcAft>
                <a:spcPts val="700"/>
              </a:spcAft>
            </a:pPr>
            <a:r>
              <a:rPr sz="1220" b="0" i="0">
                <a:solidFill>
                  <a:srgbClr val="5F6F78"/>
                </a:solidFill>
                <a:latin typeface="Frutiger"/>
              </a:rPr>
              <a:t>Daily rainfall or river discharge, covering decades to centuries.</a:t>
            </a:r>
          </a:p>
        </p:txBody>
      </p:sp>
      <p:cxnSp>
        <p:nvCxnSpPr>
          <p:cNvPr id="7" name="Connector 6"/>
          <p:cNvCxnSpPr/>
          <p:nvPr/>
        </p:nvCxnSpPr>
        <p:spPr>
          <a:xfrm>
            <a:off x="3575304" y="2514600"/>
            <a:ext cx="2377440" cy="0"/>
          </a:xfrm>
          <a:prstGeom prst="line">
            <a:avLst/>
          </a:prstGeom>
          <a:ln w="15875">
            <a:solidFill>
              <a:srgbClr val="D3DDE2"/>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3575304" y="2743200"/>
            <a:ext cx="2377440" cy="274320"/>
          </a:xfrm>
          <a:prstGeom prst="rect">
            <a:avLst/>
          </a:prstGeom>
          <a:noFill/>
        </p:spPr>
        <p:txBody>
          <a:bodyPr wrap="square" lIns="0" rIns="0" tIns="0" bIns="0" anchor="t">
            <a:noAutofit/>
          </a:bodyPr>
          <a:lstStyle/>
          <a:p>
            <a:pPr algn="l"/>
            <a:r>
              <a:rPr sz="1090" b="1" i="0" spc="100">
                <a:solidFill>
                  <a:srgbClr val="5390A2"/>
                </a:solidFill>
                <a:latin typeface="Frutiger"/>
              </a:rPr>
              <a:t>02</a:t>
            </a:r>
          </a:p>
        </p:txBody>
      </p:sp>
      <p:sp>
        <p:nvSpPr>
          <p:cNvPr id="9" name="TextBox 8"/>
          <p:cNvSpPr txBox="1"/>
          <p:nvPr/>
        </p:nvSpPr>
        <p:spPr>
          <a:xfrm>
            <a:off x="3575304" y="3154680"/>
            <a:ext cx="2377440" cy="822960"/>
          </a:xfrm>
          <a:prstGeom prst="rect">
            <a:avLst/>
          </a:prstGeom>
          <a:noFill/>
        </p:spPr>
        <p:txBody>
          <a:bodyPr wrap="square" lIns="0" rIns="0" tIns="0" bIns="0" anchor="t">
            <a:noAutofit/>
          </a:bodyPr>
          <a:lstStyle/>
          <a:p>
            <a:pPr algn="l">
              <a:lnSpc>
                <a:spcPct val="100000"/>
              </a:lnSpc>
            </a:pPr>
            <a:r>
              <a:rPr sz="1930" b="0" i="0">
                <a:solidFill>
                  <a:srgbClr val="111A20"/>
                </a:solidFill>
                <a:latin typeface="Athelas"/>
              </a:rPr>
              <a:t>Diagnostics</a:t>
            </a:r>
          </a:p>
        </p:txBody>
      </p:sp>
      <p:sp>
        <p:nvSpPr>
          <p:cNvPr id="10" name="TextBox 9"/>
          <p:cNvSpPr txBox="1"/>
          <p:nvPr/>
        </p:nvSpPr>
        <p:spPr>
          <a:xfrm>
            <a:off x="3575304" y="3931920"/>
            <a:ext cx="2331720" cy="2011680"/>
          </a:xfrm>
          <a:prstGeom prst="rect">
            <a:avLst/>
          </a:prstGeom>
          <a:noFill/>
        </p:spPr>
        <p:txBody>
          <a:bodyPr wrap="square" lIns="0" rIns="0" tIns="0" bIns="0" anchor="t">
            <a:noAutofit/>
          </a:bodyPr>
          <a:lstStyle/>
          <a:p>
            <a:pPr algn="l">
              <a:lnSpc>
                <a:spcPct val="112000"/>
              </a:lnSpc>
              <a:spcAft>
                <a:spcPts val="700"/>
              </a:spcAft>
            </a:pPr>
            <a:r>
              <a:rPr sz="1220" b="0" i="0">
                <a:solidFill>
                  <a:srgbClr val="5F6F78"/>
                </a:solidFill>
                <a:latin typeface="Frutiger"/>
              </a:rPr>
              <a:t>Peaks and the gaps between them, return periods, flow duration, recession, the seasonal cycle.</a:t>
            </a:r>
          </a:p>
        </p:txBody>
      </p:sp>
      <p:cxnSp>
        <p:nvCxnSpPr>
          <p:cNvPr id="11" name="Connector 10"/>
          <p:cNvCxnSpPr/>
          <p:nvPr/>
        </p:nvCxnSpPr>
        <p:spPr>
          <a:xfrm>
            <a:off x="6236208" y="2514600"/>
            <a:ext cx="2377440" cy="0"/>
          </a:xfrm>
          <a:prstGeom prst="line">
            <a:avLst/>
          </a:prstGeom>
          <a:ln w="38100">
            <a:solidFill>
              <a:srgbClr val="00526F"/>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6236208" y="2743200"/>
            <a:ext cx="2377440" cy="274320"/>
          </a:xfrm>
          <a:prstGeom prst="rect">
            <a:avLst/>
          </a:prstGeom>
          <a:noFill/>
        </p:spPr>
        <p:txBody>
          <a:bodyPr wrap="square" lIns="0" rIns="0" tIns="0" bIns="0" anchor="t">
            <a:noAutofit/>
          </a:bodyPr>
          <a:lstStyle/>
          <a:p>
            <a:pPr algn="l"/>
            <a:r>
              <a:rPr sz="1090" b="1" i="0" spc="100">
                <a:solidFill>
                  <a:srgbClr val="00526F"/>
                </a:solidFill>
                <a:latin typeface="Frutiger"/>
              </a:rPr>
              <a:t>03</a:t>
            </a:r>
          </a:p>
        </p:txBody>
      </p:sp>
      <p:sp>
        <p:nvSpPr>
          <p:cNvPr id="13" name="TextBox 12"/>
          <p:cNvSpPr txBox="1"/>
          <p:nvPr/>
        </p:nvSpPr>
        <p:spPr>
          <a:xfrm>
            <a:off x="6236208" y="3154680"/>
            <a:ext cx="2377440" cy="822960"/>
          </a:xfrm>
          <a:prstGeom prst="rect">
            <a:avLst/>
          </a:prstGeom>
          <a:noFill/>
        </p:spPr>
        <p:txBody>
          <a:bodyPr wrap="square" lIns="0" rIns="0" tIns="0" bIns="0" anchor="t">
            <a:noAutofit/>
          </a:bodyPr>
          <a:lstStyle/>
          <a:p>
            <a:pPr algn="l">
              <a:lnSpc>
                <a:spcPct val="100000"/>
              </a:lnSpc>
            </a:pPr>
            <a:r>
              <a:rPr sz="1930" b="0" i="0">
                <a:solidFill>
                  <a:srgbClr val="111A20"/>
                </a:solidFill>
                <a:latin typeface="Athelas"/>
              </a:rPr>
              <a:t>Two affective values</a:t>
            </a:r>
          </a:p>
        </p:txBody>
      </p:sp>
      <p:sp>
        <p:nvSpPr>
          <p:cNvPr id="14" name="TextBox 13"/>
          <p:cNvSpPr txBox="1"/>
          <p:nvPr/>
        </p:nvSpPr>
        <p:spPr>
          <a:xfrm>
            <a:off x="6236208" y="3931920"/>
            <a:ext cx="2331720" cy="2011680"/>
          </a:xfrm>
          <a:prstGeom prst="rect">
            <a:avLst/>
          </a:prstGeom>
          <a:noFill/>
        </p:spPr>
        <p:txBody>
          <a:bodyPr wrap="square" lIns="0" rIns="0" tIns="0" bIns="0" anchor="t">
            <a:noAutofit/>
          </a:bodyPr>
          <a:lstStyle/>
          <a:p>
            <a:pPr algn="l">
              <a:lnSpc>
                <a:spcPct val="112000"/>
              </a:lnSpc>
              <a:spcAft>
                <a:spcPts val="700"/>
              </a:spcAft>
            </a:pPr>
            <a:r>
              <a:rPr sz="1220" b="0" i="0">
                <a:solidFill>
                  <a:srgbClr val="111A20"/>
                </a:solidFill>
                <a:latin typeface="Frutiger"/>
              </a:rPr>
              <a:t>Valence: pleasant to distressing.</a:t>
            </a:r>
          </a:p>
          <a:p>
            <a:pPr algn="l">
              <a:lnSpc>
                <a:spcPct val="112000"/>
              </a:lnSpc>
              <a:spcAft>
                <a:spcPts val="700"/>
              </a:spcAft>
            </a:pPr>
            <a:r>
              <a:rPr sz="1220" b="0" i="0">
                <a:solidFill>
                  <a:srgbClr val="111A20"/>
                </a:solidFill>
                <a:latin typeface="Frutiger"/>
              </a:rPr>
              <a:t>Arousal: calm to activated.</a:t>
            </a:r>
          </a:p>
          <a:p>
            <a:pPr algn="l">
              <a:lnSpc>
                <a:spcPct val="112000"/>
              </a:lnSpc>
              <a:spcAft>
                <a:spcPts val="700"/>
              </a:spcAft>
            </a:pPr>
            <a:r>
              <a:rPr sz="1220" b="0" i="0">
                <a:solidFill>
                  <a:srgbClr val="111A20"/>
                </a:solidFill>
                <a:latin typeface="Frutiger"/>
              </a:rPr>
              <a:t>Alongside four physical readouts: size, glow, texture, tempo.</a:t>
            </a:r>
          </a:p>
        </p:txBody>
      </p:sp>
      <p:cxnSp>
        <p:nvCxnSpPr>
          <p:cNvPr id="15" name="Connector 14"/>
          <p:cNvCxnSpPr/>
          <p:nvPr/>
        </p:nvCxnSpPr>
        <p:spPr>
          <a:xfrm>
            <a:off x="8897112" y="2514600"/>
            <a:ext cx="2377440" cy="0"/>
          </a:xfrm>
          <a:prstGeom prst="line">
            <a:avLst/>
          </a:prstGeom>
          <a:ln w="15875">
            <a:solidFill>
              <a:srgbClr val="D3DDE2"/>
            </a:solidFill>
          </a:ln>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8897112" y="2743200"/>
            <a:ext cx="2377440" cy="274320"/>
          </a:xfrm>
          <a:prstGeom prst="rect">
            <a:avLst/>
          </a:prstGeom>
          <a:noFill/>
        </p:spPr>
        <p:txBody>
          <a:bodyPr wrap="square" lIns="0" rIns="0" tIns="0" bIns="0" anchor="t">
            <a:noAutofit/>
          </a:bodyPr>
          <a:lstStyle/>
          <a:p>
            <a:pPr algn="l"/>
            <a:r>
              <a:rPr sz="1090" b="1" i="0" spc="100">
                <a:solidFill>
                  <a:srgbClr val="5390A2"/>
                </a:solidFill>
                <a:latin typeface="Frutiger"/>
              </a:rPr>
              <a:t>04</a:t>
            </a:r>
          </a:p>
        </p:txBody>
      </p:sp>
      <p:sp>
        <p:nvSpPr>
          <p:cNvPr id="17" name="TextBox 16"/>
          <p:cNvSpPr txBox="1"/>
          <p:nvPr/>
        </p:nvSpPr>
        <p:spPr>
          <a:xfrm>
            <a:off x="8897112" y="3154680"/>
            <a:ext cx="2377440" cy="822960"/>
          </a:xfrm>
          <a:prstGeom prst="rect">
            <a:avLst/>
          </a:prstGeom>
          <a:noFill/>
        </p:spPr>
        <p:txBody>
          <a:bodyPr wrap="square" lIns="0" rIns="0" tIns="0" bIns="0" anchor="t">
            <a:noAutofit/>
          </a:bodyPr>
          <a:lstStyle/>
          <a:p>
            <a:pPr algn="l">
              <a:lnSpc>
                <a:spcPct val="100000"/>
              </a:lnSpc>
            </a:pPr>
            <a:r>
              <a:rPr sz="1930" b="0" i="0">
                <a:solidFill>
                  <a:srgbClr val="111A20"/>
                </a:solidFill>
                <a:latin typeface="Athelas"/>
              </a:rPr>
              <a:t>XR and sound</a:t>
            </a:r>
          </a:p>
        </p:txBody>
      </p:sp>
      <p:sp>
        <p:nvSpPr>
          <p:cNvPr id="18" name="TextBox 17"/>
          <p:cNvSpPr txBox="1"/>
          <p:nvPr/>
        </p:nvSpPr>
        <p:spPr>
          <a:xfrm>
            <a:off x="8897112" y="3931920"/>
            <a:ext cx="2331720" cy="2011680"/>
          </a:xfrm>
          <a:prstGeom prst="rect">
            <a:avLst/>
          </a:prstGeom>
          <a:noFill/>
        </p:spPr>
        <p:txBody>
          <a:bodyPr wrap="square" lIns="0" rIns="0" tIns="0" bIns="0" anchor="t">
            <a:noAutofit/>
          </a:bodyPr>
          <a:lstStyle/>
          <a:p>
            <a:pPr algn="l">
              <a:lnSpc>
                <a:spcPct val="112000"/>
              </a:lnSpc>
              <a:spcAft>
                <a:spcPts val="700"/>
              </a:spcAft>
            </a:pPr>
            <a:r>
              <a:rPr sz="1220" b="0" i="0">
                <a:solidFill>
                  <a:srgbClr val="5F6F78"/>
                </a:solidFill>
                <a:latin typeface="Frutiger"/>
              </a:rPr>
              <a:t>Designed to feed immersive and sonic experiences. The output format is still provisional.</a:t>
            </a:r>
          </a:p>
        </p:txBody>
      </p:sp>
      <p:pic>
        <p:nvPicPr>
          <p:cNvPr id="19" name="Picture 18" descr="logo.png"/>
          <p:cNvPicPr>
            <a:picLocks noChangeAspect="1"/>
          </p:cNvPicPr>
          <p:nvPr/>
        </p:nvPicPr>
        <p:blipFill>
          <a:blip r:embed="rId3"/>
          <a:stretch>
            <a:fillRect/>
          </a:stretch>
        </p:blipFill>
        <p:spPr>
          <a:xfrm>
            <a:off x="914400" y="6236208"/>
            <a:ext cx="2120348" cy="292608"/>
          </a:xfrm>
          <a:prstGeom prst="rect">
            <a:avLst/>
          </a:prstGeom>
        </p:spPr>
      </p:pic>
      <p:sp>
        <p:nvSpPr>
          <p:cNvPr id="20" name="TextBox 19"/>
          <p:cNvSpPr txBox="1"/>
          <p:nvPr/>
        </p:nvSpPr>
        <p:spPr>
          <a:xfrm>
            <a:off x="10637215" y="6309360"/>
            <a:ext cx="640080" cy="274320"/>
          </a:xfrm>
          <a:prstGeom prst="rect">
            <a:avLst/>
          </a:prstGeom>
          <a:noFill/>
        </p:spPr>
        <p:txBody>
          <a:bodyPr wrap="square" lIns="0" rIns="0" tIns="0" bIns="0" anchor="t">
            <a:noAutofit/>
          </a:bodyPr>
          <a:lstStyle/>
          <a:p>
            <a:pPr algn="r"/>
            <a:r>
              <a:rPr sz="1000" b="0" i="0">
                <a:solidFill>
                  <a:srgbClr val="5F6F78"/>
                </a:solidFill>
                <a:latin typeface="Frutiger"/>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914400" y="685800"/>
            <a:ext cx="10362895" cy="1371600"/>
          </a:xfrm>
          <a:prstGeom prst="rect">
            <a:avLst/>
          </a:prstGeom>
          <a:noFill/>
        </p:spPr>
        <p:txBody>
          <a:bodyPr wrap="square" lIns="0" rIns="0" tIns="0" bIns="0" anchor="t">
            <a:noAutofit/>
          </a:bodyPr>
          <a:lstStyle/>
          <a:p>
            <a:pPr algn="l">
              <a:lnSpc>
                <a:spcPct val="105000"/>
              </a:lnSpc>
            </a:pPr>
            <a:r>
              <a:rPr sz="3360" b="0" i="0">
                <a:solidFill>
                  <a:srgbClr val="111A20"/>
                </a:solidFill>
                <a:latin typeface="Athelas"/>
              </a:rPr>
              <a:t>Two layers, kept deliberately apart</a:t>
            </a:r>
          </a:p>
        </p:txBody>
      </p:sp>
      <p:sp>
        <p:nvSpPr>
          <p:cNvPr id="3" name="TextBox 2"/>
          <p:cNvSpPr txBox="1"/>
          <p:nvPr/>
        </p:nvSpPr>
        <p:spPr>
          <a:xfrm>
            <a:off x="914400" y="2331720"/>
            <a:ext cx="4754880" cy="548640"/>
          </a:xfrm>
          <a:prstGeom prst="rect">
            <a:avLst/>
          </a:prstGeom>
          <a:noFill/>
        </p:spPr>
        <p:txBody>
          <a:bodyPr wrap="square" lIns="0" rIns="0" tIns="0" bIns="0" anchor="t">
            <a:noAutofit/>
          </a:bodyPr>
          <a:lstStyle/>
          <a:p>
            <a:pPr algn="l"/>
            <a:r>
              <a:rPr sz="2690" b="0" i="0">
                <a:solidFill>
                  <a:srgbClr val="111A20"/>
                </a:solidFill>
                <a:latin typeface="Athelas"/>
              </a:rPr>
              <a:t>Science layer</a:t>
            </a:r>
          </a:p>
        </p:txBody>
      </p:sp>
      <p:sp>
        <p:nvSpPr>
          <p:cNvPr id="4" name="TextBox 3"/>
          <p:cNvSpPr txBox="1"/>
          <p:nvPr/>
        </p:nvSpPr>
        <p:spPr>
          <a:xfrm>
            <a:off x="914400" y="2926080"/>
            <a:ext cx="4754880" cy="274320"/>
          </a:xfrm>
          <a:prstGeom prst="rect">
            <a:avLst/>
          </a:prstGeom>
          <a:noFill/>
        </p:spPr>
        <p:txBody>
          <a:bodyPr wrap="square" lIns="0" rIns="0" tIns="0" bIns="0" anchor="t">
            <a:noAutofit/>
          </a:bodyPr>
          <a:lstStyle/>
          <a:p>
            <a:pPr algn="l"/>
            <a:r>
              <a:rPr sz="1010" b="1" i="0" spc="140">
                <a:solidFill>
                  <a:srgbClr val="5F6F78"/>
                </a:solidFill>
                <a:latin typeface="Frutiger"/>
              </a:rPr>
              <a:t>OBJECTIVE</a:t>
            </a:r>
          </a:p>
        </p:txBody>
      </p:sp>
      <p:sp>
        <p:nvSpPr>
          <p:cNvPr id="5" name="TextBox 4"/>
          <p:cNvSpPr txBox="1"/>
          <p:nvPr/>
        </p:nvSpPr>
        <p:spPr>
          <a:xfrm>
            <a:off x="914400" y="3474720"/>
            <a:ext cx="4754880" cy="2560320"/>
          </a:xfrm>
          <a:prstGeom prst="rect">
            <a:avLst/>
          </a:prstGeom>
          <a:noFill/>
        </p:spPr>
        <p:txBody>
          <a:bodyPr wrap="square" lIns="0" rIns="0" tIns="0" bIns="0" anchor="t">
            <a:noAutofit/>
          </a:bodyPr>
          <a:lstStyle/>
          <a:p>
            <a:pPr algn="l">
              <a:lnSpc>
                <a:spcPct val="112000"/>
              </a:lnSpc>
              <a:spcAft>
                <a:spcPts val="1200"/>
              </a:spcAft>
            </a:pPr>
            <a:r>
              <a:rPr sz="1390" b="0" i="0">
                <a:solidFill>
                  <a:srgbClr val="111A20"/>
                </a:solidFill>
                <a:latin typeface="Frutiger"/>
              </a:rPr>
              <a:t>Hong Kong rainfall, 1884–2025: annual peaks, the gaps between them, return periods.</a:t>
            </a:r>
          </a:p>
          <a:p>
            <a:pPr algn="l">
              <a:lnSpc>
                <a:spcPct val="112000"/>
              </a:lnSpc>
              <a:spcAft>
                <a:spcPts val="1200"/>
              </a:spcAft>
            </a:pPr>
            <a:r>
              <a:rPr sz="1390" b="0" i="0">
                <a:solidFill>
                  <a:srgbClr val="111A20"/>
                </a:solidFill>
                <a:latin typeface="Frutiger"/>
              </a:rPr>
              <a:t>Rhine and alpine rivers, 8 stations: flow duration, recession, the seasonal cycle.</a:t>
            </a:r>
          </a:p>
          <a:p>
            <a:pPr algn="l">
              <a:lnSpc>
                <a:spcPct val="112000"/>
              </a:lnSpc>
              <a:spcAft>
                <a:spcPts val="1200"/>
              </a:spcAft>
            </a:pPr>
            <a:r>
              <a:rPr sz="1390" b="0" i="0">
                <a:solidFill>
                  <a:srgbClr val="111A20"/>
                </a:solidFill>
                <a:latin typeface="Frutiger"/>
              </a:rPr>
              <a:t>Measures what happened. The measurements are never adjusted for artistic reasons.</a:t>
            </a:r>
          </a:p>
        </p:txBody>
      </p:sp>
      <p:cxnSp>
        <p:nvCxnSpPr>
          <p:cNvPr id="6" name="Connector 5"/>
          <p:cNvCxnSpPr/>
          <p:nvPr/>
        </p:nvCxnSpPr>
        <p:spPr>
          <a:xfrm>
            <a:off x="6096304" y="2377440"/>
            <a:ext cx="0" cy="3566160"/>
          </a:xfrm>
          <a:prstGeom prst="line">
            <a:avLst/>
          </a:prstGeom>
          <a:ln w="12700">
            <a:solidFill>
              <a:srgbClr val="D3DDE2"/>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6522415" y="2331720"/>
            <a:ext cx="4754880" cy="548640"/>
          </a:xfrm>
          <a:prstGeom prst="rect">
            <a:avLst/>
          </a:prstGeom>
          <a:noFill/>
        </p:spPr>
        <p:txBody>
          <a:bodyPr wrap="square" lIns="0" rIns="0" tIns="0" bIns="0" anchor="t">
            <a:noAutofit/>
          </a:bodyPr>
          <a:lstStyle/>
          <a:p>
            <a:pPr algn="l"/>
            <a:r>
              <a:rPr sz="2690" b="0" i="0">
                <a:solidFill>
                  <a:srgbClr val="111A20"/>
                </a:solidFill>
                <a:latin typeface="Athelas"/>
              </a:rPr>
              <a:t>Curatorial layer</a:t>
            </a:r>
          </a:p>
        </p:txBody>
      </p:sp>
      <p:sp>
        <p:nvSpPr>
          <p:cNvPr id="8" name="TextBox 7"/>
          <p:cNvSpPr txBox="1"/>
          <p:nvPr/>
        </p:nvSpPr>
        <p:spPr>
          <a:xfrm>
            <a:off x="6522415" y="2926080"/>
            <a:ext cx="4754880" cy="274320"/>
          </a:xfrm>
          <a:prstGeom prst="rect">
            <a:avLst/>
          </a:prstGeom>
          <a:noFill/>
        </p:spPr>
        <p:txBody>
          <a:bodyPr wrap="square" lIns="0" rIns="0" tIns="0" bIns="0" anchor="t">
            <a:noAutofit/>
          </a:bodyPr>
          <a:lstStyle/>
          <a:p>
            <a:pPr algn="l"/>
            <a:r>
              <a:rPr sz="1010" b="1" i="0" spc="140">
                <a:solidFill>
                  <a:srgbClr val="00526F"/>
                </a:solidFill>
                <a:latin typeface="Frutiger"/>
              </a:rPr>
              <a:t>DESIGNED</a:t>
            </a:r>
          </a:p>
        </p:txBody>
      </p:sp>
      <p:sp>
        <p:nvSpPr>
          <p:cNvPr id="9" name="TextBox 8"/>
          <p:cNvSpPr txBox="1"/>
          <p:nvPr/>
        </p:nvSpPr>
        <p:spPr>
          <a:xfrm>
            <a:off x="6522415" y="3474720"/>
            <a:ext cx="4754880" cy="2560320"/>
          </a:xfrm>
          <a:prstGeom prst="rect">
            <a:avLst/>
          </a:prstGeom>
          <a:noFill/>
        </p:spPr>
        <p:txBody>
          <a:bodyPr wrap="square" lIns="0" rIns="0" tIns="0" bIns="0" anchor="t">
            <a:noAutofit/>
          </a:bodyPr>
          <a:lstStyle/>
          <a:p>
            <a:pPr algn="l">
              <a:lnSpc>
                <a:spcPct val="112000"/>
              </a:lnSpc>
              <a:spcAft>
                <a:spcPts val="1200"/>
              </a:spcAft>
            </a:pPr>
            <a:r>
              <a:rPr sz="1390" b="0" i="0">
                <a:solidFill>
                  <a:srgbClr val="111A20"/>
                </a:solidFill>
                <a:latin typeface="Frutiger"/>
              </a:rPr>
              <a:t>Decides what a drought or a flood should feel like: how alarming, how heavy.</a:t>
            </a:r>
          </a:p>
          <a:p>
            <a:pPr algn="l">
              <a:lnSpc>
                <a:spcPct val="112000"/>
              </a:lnSpc>
              <a:spcAft>
                <a:spcPts val="1200"/>
              </a:spcAft>
            </a:pPr>
            <a:r>
              <a:rPr sz="1390" b="0" i="0">
                <a:solidFill>
                  <a:srgbClr val="111A20"/>
                </a:solidFill>
                <a:latin typeface="Frutiger"/>
              </a:rPr>
              <a:t>Kept separate from the measurements, so the feeling can be redesigned without changing any of the science.</a:t>
            </a:r>
          </a:p>
          <a:p>
            <a:pPr algn="l">
              <a:lnSpc>
                <a:spcPct val="112000"/>
              </a:lnSpc>
              <a:spcAft>
                <a:spcPts val="1200"/>
              </a:spcAft>
            </a:pPr>
            <a:r>
              <a:rPr sz="1390" b="0" i="0">
                <a:solidFill>
                  <a:srgbClr val="111A20"/>
                </a:solidFill>
                <a:latin typeface="Frutiger"/>
              </a:rPr>
              <a:t>Its output: valence and arousal.</a:t>
            </a:r>
          </a:p>
        </p:txBody>
      </p:sp>
      <p:pic>
        <p:nvPicPr>
          <p:cNvPr id="10" name="Picture 9" descr="logo.png"/>
          <p:cNvPicPr>
            <a:picLocks noChangeAspect="1"/>
          </p:cNvPicPr>
          <p:nvPr/>
        </p:nvPicPr>
        <p:blipFill>
          <a:blip r:embed="rId3"/>
          <a:stretch>
            <a:fillRect/>
          </a:stretch>
        </p:blipFill>
        <p:spPr>
          <a:xfrm>
            <a:off x="914400" y="6236208"/>
            <a:ext cx="2120348" cy="292608"/>
          </a:xfrm>
          <a:prstGeom prst="rect">
            <a:avLst/>
          </a:prstGeom>
        </p:spPr>
      </p:pic>
      <p:sp>
        <p:nvSpPr>
          <p:cNvPr id="11" name="TextBox 10"/>
          <p:cNvSpPr txBox="1"/>
          <p:nvPr/>
        </p:nvSpPr>
        <p:spPr>
          <a:xfrm>
            <a:off x="10637215" y="6309360"/>
            <a:ext cx="640080" cy="274320"/>
          </a:xfrm>
          <a:prstGeom prst="rect">
            <a:avLst/>
          </a:prstGeom>
          <a:noFill/>
        </p:spPr>
        <p:txBody>
          <a:bodyPr wrap="square" lIns="0" rIns="0" tIns="0" bIns="0" anchor="t">
            <a:noAutofit/>
          </a:bodyPr>
          <a:lstStyle/>
          <a:p>
            <a:pPr algn="r"/>
            <a:r>
              <a:rPr sz="1000" b="0" i="0">
                <a:solidFill>
                  <a:srgbClr val="5F6F78"/>
                </a:solidFill>
                <a:latin typeface="Frutiger"/>
              </a:rPr>
              <a:t>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914400" y="685800"/>
            <a:ext cx="10362895" cy="1371600"/>
          </a:xfrm>
          <a:prstGeom prst="rect">
            <a:avLst/>
          </a:prstGeom>
          <a:noFill/>
        </p:spPr>
        <p:txBody>
          <a:bodyPr wrap="square" lIns="0" rIns="0" tIns="0" bIns="0" anchor="t">
            <a:noAutofit/>
          </a:bodyPr>
          <a:lstStyle/>
          <a:p>
            <a:pPr algn="l">
              <a:lnSpc>
                <a:spcPct val="105000"/>
              </a:lnSpc>
            </a:pPr>
            <a:r>
              <a:rPr sz="3360" b="0" i="0">
                <a:solidFill>
                  <a:srgbClr val="111A20"/>
                </a:solidFill>
                <a:latin typeface="Athelas"/>
              </a:rPr>
              <a:t>Machine learning finds unusual years</a:t>
            </a:r>
          </a:p>
        </p:txBody>
      </p:sp>
      <p:sp>
        <p:nvSpPr>
          <p:cNvPr id="3" name="TextBox 2"/>
          <p:cNvSpPr txBox="1"/>
          <p:nvPr/>
        </p:nvSpPr>
        <p:spPr>
          <a:xfrm>
            <a:off x="914400" y="1463040"/>
            <a:ext cx="10362895" cy="365760"/>
          </a:xfrm>
          <a:prstGeom prst="rect">
            <a:avLst/>
          </a:prstGeom>
          <a:noFill/>
        </p:spPr>
        <p:txBody>
          <a:bodyPr wrap="square" lIns="0" rIns="0" tIns="0" bIns="0" anchor="t">
            <a:noAutofit/>
          </a:bodyPr>
          <a:lstStyle/>
          <a:p>
            <a:pPr algn="l"/>
            <a:r>
              <a:rPr sz="1340" b="0" i="0">
                <a:solidFill>
                  <a:srgbClr val="5F6F78"/>
                </a:solidFill>
                <a:latin typeface="Frutiger"/>
              </a:rPr>
              <a:t>Its one job so far, unsupervised: learn what a typical year looks like, then score how badly each year fits.</a:t>
            </a:r>
          </a:p>
        </p:txBody>
      </p:sp>
      <p:pic>
        <p:nvPicPr>
          <p:cNvPr id="4" name="Picture 3" descr="anomaly_floods2.png"/>
          <p:cNvPicPr>
            <a:picLocks noChangeAspect="1"/>
          </p:cNvPicPr>
          <p:nvPr/>
        </p:nvPicPr>
        <p:blipFill>
          <a:blip r:embed="rId3"/>
          <a:stretch>
            <a:fillRect/>
          </a:stretch>
        </p:blipFill>
        <p:spPr>
          <a:xfrm>
            <a:off x="914400" y="2148840"/>
            <a:ext cx="10362895" cy="3019046"/>
          </a:xfrm>
          <a:prstGeom prst="rect">
            <a:avLst/>
          </a:prstGeom>
        </p:spPr>
      </p:pic>
      <p:sp>
        <p:nvSpPr>
          <p:cNvPr id="5" name="TextBox 4"/>
          <p:cNvSpPr txBox="1"/>
          <p:nvPr/>
        </p:nvSpPr>
        <p:spPr>
          <a:xfrm>
            <a:off x="914400" y="5230368"/>
            <a:ext cx="10362895" cy="365760"/>
          </a:xfrm>
          <a:prstGeom prst="rect">
            <a:avLst/>
          </a:prstGeom>
          <a:noFill/>
        </p:spPr>
        <p:txBody>
          <a:bodyPr wrap="square" lIns="0" rIns="0" tIns="0" bIns="0" anchor="t">
            <a:noAutofit/>
          </a:bodyPr>
          <a:lstStyle/>
          <a:p>
            <a:pPr algn="l"/>
            <a:r>
              <a:rPr sz="1260" b="1" i="0">
                <a:solidFill>
                  <a:srgbClr val="111A20"/>
                </a:solidFill>
                <a:latin typeface="Frutiger"/>
              </a:rPr>
              <a:t>The highlighted bar is each station's highest-scoring year. </a:t>
            </a:r>
            <a:r>
              <a:rPr sz="1260" b="0" i="0">
                <a:solidFill>
                  <a:srgbClr val="111A20"/>
                </a:solidFill>
                <a:latin typeface="Frutiger"/>
              </a:rPr>
              <a:t>The model was never told these events existed.</a:t>
            </a:r>
          </a:p>
        </p:txBody>
      </p:sp>
      <p:sp>
        <p:nvSpPr>
          <p:cNvPr id="6" name="TextBox 5"/>
          <p:cNvSpPr txBox="1"/>
          <p:nvPr/>
        </p:nvSpPr>
        <p:spPr>
          <a:xfrm>
            <a:off x="914400" y="5623560"/>
            <a:ext cx="10362895" cy="457200"/>
          </a:xfrm>
          <a:prstGeom prst="rect">
            <a:avLst/>
          </a:prstGeom>
          <a:noFill/>
        </p:spPr>
        <p:txBody>
          <a:bodyPr wrap="square" lIns="0" rIns="0" tIns="0" bIns="0" anchor="t">
            <a:noAutofit/>
          </a:bodyPr>
          <a:lstStyle/>
          <a:p>
            <a:pPr algn="l">
              <a:lnSpc>
                <a:spcPct val="108000"/>
              </a:lnSpc>
            </a:pPr>
            <a:r>
              <a:rPr sz="1000" b="0" i="0">
                <a:solidFill>
                  <a:srgbClr val="5F6F78"/>
                </a:solidFill>
                <a:latin typeface="Frutiger"/>
              </a:rPr>
              <a:t>Method: PCA reconstruction error, fit separately per station on its own years. Events: Aug 2005 Alpine floods (22–23 Aug), May 1999 Swiss floods (Thun, 15 May), Christmas 1993 Rhine flood (Köln, 24 Dec).</a:t>
            </a:r>
          </a:p>
        </p:txBody>
      </p:sp>
      <p:pic>
        <p:nvPicPr>
          <p:cNvPr id="7" name="Picture 6" descr="logo.png"/>
          <p:cNvPicPr>
            <a:picLocks noChangeAspect="1"/>
          </p:cNvPicPr>
          <p:nvPr/>
        </p:nvPicPr>
        <p:blipFill>
          <a:blip r:embed="rId4"/>
          <a:stretch>
            <a:fillRect/>
          </a:stretch>
        </p:blipFill>
        <p:spPr>
          <a:xfrm>
            <a:off x="914400" y="6236208"/>
            <a:ext cx="2120348" cy="292608"/>
          </a:xfrm>
          <a:prstGeom prst="rect">
            <a:avLst/>
          </a:prstGeom>
        </p:spPr>
      </p:pic>
      <p:sp>
        <p:nvSpPr>
          <p:cNvPr id="8" name="TextBox 7"/>
          <p:cNvSpPr txBox="1"/>
          <p:nvPr/>
        </p:nvSpPr>
        <p:spPr>
          <a:xfrm>
            <a:off x="10637215" y="6309360"/>
            <a:ext cx="640080" cy="274320"/>
          </a:xfrm>
          <a:prstGeom prst="rect">
            <a:avLst/>
          </a:prstGeom>
          <a:noFill/>
        </p:spPr>
        <p:txBody>
          <a:bodyPr wrap="square" lIns="0" rIns="0" tIns="0" bIns="0" anchor="t">
            <a:noAutofit/>
          </a:bodyPr>
          <a:lstStyle/>
          <a:p>
            <a:pPr algn="r"/>
            <a:r>
              <a:rPr sz="1000" b="0" i="0">
                <a:solidFill>
                  <a:srgbClr val="5F6F78"/>
                </a:solidFill>
                <a:latin typeface="Frutiger"/>
              </a:rPr>
              <a:t>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914400" y="685800"/>
            <a:ext cx="10362895" cy="1371600"/>
          </a:xfrm>
          <a:prstGeom prst="rect">
            <a:avLst/>
          </a:prstGeom>
          <a:noFill/>
        </p:spPr>
        <p:txBody>
          <a:bodyPr wrap="square" lIns="0" rIns="0" tIns="0" bIns="0" anchor="t">
            <a:noAutofit/>
          </a:bodyPr>
          <a:lstStyle/>
          <a:p>
            <a:pPr algn="l">
              <a:lnSpc>
                <a:spcPct val="105000"/>
              </a:lnSpc>
            </a:pPr>
            <a:r>
              <a:rPr sz="3360" b="0" i="0">
                <a:solidFill>
                  <a:srgbClr val="111A20"/>
                </a:solidFill>
                <a:latin typeface="Athelas"/>
              </a:rPr>
              <a:t>Built to travel</a:t>
            </a:r>
          </a:p>
        </p:txBody>
      </p:sp>
      <p:sp>
        <p:nvSpPr>
          <p:cNvPr id="3" name="TextBox 2"/>
          <p:cNvSpPr txBox="1"/>
          <p:nvPr/>
        </p:nvSpPr>
        <p:spPr>
          <a:xfrm>
            <a:off x="914400" y="1463040"/>
            <a:ext cx="10362895" cy="365760"/>
          </a:xfrm>
          <a:prstGeom prst="rect">
            <a:avLst/>
          </a:prstGeom>
          <a:noFill/>
        </p:spPr>
        <p:txBody>
          <a:bodyPr wrap="square" lIns="0" rIns="0" tIns="0" bIns="0" anchor="t">
            <a:noAutofit/>
          </a:bodyPr>
          <a:lstStyle/>
          <a:p>
            <a:pPr algn="l"/>
            <a:r>
              <a:rPr sz="1340" b="0" i="0">
                <a:solidFill>
                  <a:srgbClr val="5F6F78"/>
                </a:solidFill>
                <a:latin typeface="Frutiger"/>
              </a:rPr>
              <a:t>Each record fits its own model on its own history. Another rainfall or river record can go through the same pipeline.</a:t>
            </a:r>
          </a:p>
        </p:txBody>
      </p:sp>
      <p:cxnSp>
        <p:nvCxnSpPr>
          <p:cNvPr id="4" name="Connector 3"/>
          <p:cNvCxnSpPr/>
          <p:nvPr/>
        </p:nvCxnSpPr>
        <p:spPr>
          <a:xfrm>
            <a:off x="914400" y="2926080"/>
            <a:ext cx="3200400" cy="0"/>
          </a:xfrm>
          <a:prstGeom prst="line">
            <a:avLst/>
          </a:prstGeom>
          <a:ln w="38100">
            <a:solidFill>
              <a:srgbClr val="00526F"/>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914400" y="3200400"/>
            <a:ext cx="3200400" cy="274320"/>
          </a:xfrm>
          <a:prstGeom prst="rect">
            <a:avLst/>
          </a:prstGeom>
          <a:noFill/>
        </p:spPr>
        <p:txBody>
          <a:bodyPr wrap="square" lIns="0" rIns="0" tIns="0" bIns="0" anchor="t">
            <a:noAutofit/>
          </a:bodyPr>
          <a:lstStyle/>
          <a:p>
            <a:pPr algn="l"/>
            <a:r>
              <a:rPr sz="1010" b="1" i="0" spc="140">
                <a:solidFill>
                  <a:srgbClr val="00526F"/>
                </a:solidFill>
                <a:latin typeface="Frutiger"/>
              </a:rPr>
              <a:t>HONG KONG OBSERVATORY</a:t>
            </a:r>
          </a:p>
        </p:txBody>
      </p:sp>
      <p:sp>
        <p:nvSpPr>
          <p:cNvPr id="6" name="TextBox 5"/>
          <p:cNvSpPr txBox="1"/>
          <p:nvPr/>
        </p:nvSpPr>
        <p:spPr>
          <a:xfrm>
            <a:off x="914400" y="3657600"/>
            <a:ext cx="3108960" cy="914400"/>
          </a:xfrm>
          <a:prstGeom prst="rect">
            <a:avLst/>
          </a:prstGeom>
          <a:noFill/>
        </p:spPr>
        <p:txBody>
          <a:bodyPr wrap="square" lIns="0" rIns="0" tIns="0" bIns="0" anchor="t">
            <a:noAutofit/>
          </a:bodyPr>
          <a:lstStyle/>
          <a:p>
            <a:pPr algn="l">
              <a:lnSpc>
                <a:spcPct val="100000"/>
              </a:lnSpc>
            </a:pPr>
            <a:r>
              <a:rPr sz="2180" b="0" i="0">
                <a:solidFill>
                  <a:srgbClr val="111A20"/>
                </a:solidFill>
                <a:latin typeface="Athelas"/>
              </a:rPr>
              <a:t>Hong Kong rainfall</a:t>
            </a:r>
          </a:p>
        </p:txBody>
      </p:sp>
      <p:sp>
        <p:nvSpPr>
          <p:cNvPr id="7" name="TextBox 6"/>
          <p:cNvSpPr txBox="1"/>
          <p:nvPr/>
        </p:nvSpPr>
        <p:spPr>
          <a:xfrm>
            <a:off x="914400" y="4709160"/>
            <a:ext cx="3108960" cy="1463040"/>
          </a:xfrm>
          <a:prstGeom prst="rect">
            <a:avLst/>
          </a:prstGeom>
          <a:noFill/>
        </p:spPr>
        <p:txBody>
          <a:bodyPr wrap="square" lIns="0" rIns="0" tIns="0" bIns="0" anchor="t">
            <a:noAutofit/>
          </a:bodyPr>
          <a:lstStyle/>
          <a:p>
            <a:pPr algn="l">
              <a:lnSpc>
                <a:spcPct val="112000"/>
              </a:lnSpc>
              <a:spcAft>
                <a:spcPts val="700"/>
              </a:spcAft>
            </a:pPr>
            <a:r>
              <a:rPr sz="1300" b="0" i="0">
                <a:solidFill>
                  <a:srgbClr val="111A20"/>
                </a:solidFill>
                <a:latin typeface="Frutiger"/>
              </a:rPr>
              <a:t>Daily, 1884–2025</a:t>
            </a:r>
          </a:p>
          <a:p>
            <a:pPr algn="l">
              <a:lnSpc>
                <a:spcPct val="112000"/>
              </a:lnSpc>
              <a:spcAft>
                <a:spcPts val="700"/>
              </a:spcAft>
            </a:pPr>
            <a:r>
              <a:rPr sz="1300" b="0" i="0">
                <a:solidFill>
                  <a:srgbClr val="111A20"/>
                </a:solidFill>
                <a:latin typeface="Frutiger"/>
              </a:rPr>
              <a:t>One model, fit on 134 years</a:t>
            </a:r>
          </a:p>
        </p:txBody>
      </p:sp>
      <p:cxnSp>
        <p:nvCxnSpPr>
          <p:cNvPr id="8" name="Connector 7"/>
          <p:cNvCxnSpPr/>
          <p:nvPr/>
        </p:nvCxnSpPr>
        <p:spPr>
          <a:xfrm>
            <a:off x="4494276" y="2926080"/>
            <a:ext cx="3200399" cy="0"/>
          </a:xfrm>
          <a:prstGeom prst="line">
            <a:avLst/>
          </a:prstGeom>
          <a:ln w="38100">
            <a:solidFill>
              <a:srgbClr val="00526F"/>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4494276" y="3200400"/>
            <a:ext cx="3200400" cy="274320"/>
          </a:xfrm>
          <a:prstGeom prst="rect">
            <a:avLst/>
          </a:prstGeom>
          <a:noFill/>
        </p:spPr>
        <p:txBody>
          <a:bodyPr wrap="square" lIns="0" rIns="0" tIns="0" bIns="0" anchor="t">
            <a:noAutofit/>
          </a:bodyPr>
          <a:lstStyle/>
          <a:p>
            <a:pPr algn="l"/>
            <a:r>
              <a:rPr sz="1010" b="1" i="0" spc="140">
                <a:solidFill>
                  <a:srgbClr val="00526F"/>
                </a:solidFill>
                <a:latin typeface="Frutiger"/>
              </a:rPr>
              <a:t>GRDC, FOEN</a:t>
            </a:r>
          </a:p>
        </p:txBody>
      </p:sp>
      <p:sp>
        <p:nvSpPr>
          <p:cNvPr id="10" name="TextBox 9"/>
          <p:cNvSpPr txBox="1"/>
          <p:nvPr/>
        </p:nvSpPr>
        <p:spPr>
          <a:xfrm>
            <a:off x="4494276" y="3657600"/>
            <a:ext cx="3108960" cy="914400"/>
          </a:xfrm>
          <a:prstGeom prst="rect">
            <a:avLst/>
          </a:prstGeom>
          <a:noFill/>
        </p:spPr>
        <p:txBody>
          <a:bodyPr wrap="square" lIns="0" rIns="0" tIns="0" bIns="0" anchor="t">
            <a:noAutofit/>
          </a:bodyPr>
          <a:lstStyle/>
          <a:p>
            <a:pPr algn="l">
              <a:lnSpc>
                <a:spcPct val="100000"/>
              </a:lnSpc>
            </a:pPr>
            <a:r>
              <a:rPr sz="2180" b="0" i="0">
                <a:solidFill>
                  <a:srgbClr val="111A20"/>
                </a:solidFill>
                <a:latin typeface="Athelas"/>
              </a:rPr>
              <a:t>Rhine and alpine rivers</a:t>
            </a:r>
          </a:p>
        </p:txBody>
      </p:sp>
      <p:sp>
        <p:nvSpPr>
          <p:cNvPr id="11" name="TextBox 10"/>
          <p:cNvSpPr txBox="1"/>
          <p:nvPr/>
        </p:nvSpPr>
        <p:spPr>
          <a:xfrm>
            <a:off x="4494276" y="4709160"/>
            <a:ext cx="3108960" cy="1463040"/>
          </a:xfrm>
          <a:prstGeom prst="rect">
            <a:avLst/>
          </a:prstGeom>
          <a:noFill/>
        </p:spPr>
        <p:txBody>
          <a:bodyPr wrap="square" lIns="0" rIns="0" tIns="0" bIns="0" anchor="t">
            <a:noAutofit/>
          </a:bodyPr>
          <a:lstStyle/>
          <a:p>
            <a:pPr algn="l">
              <a:lnSpc>
                <a:spcPct val="112000"/>
              </a:lnSpc>
              <a:spcAft>
                <a:spcPts val="700"/>
              </a:spcAft>
            </a:pPr>
            <a:r>
              <a:rPr sz="1300" b="0" i="0">
                <a:solidFill>
                  <a:srgbClr val="111A20"/>
                </a:solidFill>
                <a:latin typeface="Frutiger"/>
              </a:rPr>
              <a:t>Daily, 8 stations</a:t>
            </a:r>
          </a:p>
          <a:p>
            <a:pPr algn="l">
              <a:lnSpc>
                <a:spcPct val="112000"/>
              </a:lnSpc>
              <a:spcAft>
                <a:spcPts val="700"/>
              </a:spcAft>
            </a:pPr>
            <a:r>
              <a:rPr sz="1300" b="0" i="0">
                <a:solidFill>
                  <a:srgbClr val="111A20"/>
                </a:solidFill>
                <a:latin typeface="Frutiger"/>
              </a:rPr>
              <a:t>One model per station, 62–208 years</a:t>
            </a:r>
          </a:p>
        </p:txBody>
      </p:sp>
      <p:cxnSp>
        <p:nvCxnSpPr>
          <p:cNvPr id="12" name="Connector 11"/>
          <p:cNvCxnSpPr/>
          <p:nvPr/>
        </p:nvCxnSpPr>
        <p:spPr>
          <a:xfrm>
            <a:off x="8074152" y="2926080"/>
            <a:ext cx="3200400" cy="0"/>
          </a:xfrm>
          <a:prstGeom prst="line">
            <a:avLst/>
          </a:prstGeom>
          <a:ln w="22225">
            <a:solidFill>
              <a:srgbClr val="5390A2"/>
            </a:solidFill>
            <a:prstDash val="dash"/>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8074152" y="3200400"/>
            <a:ext cx="3200400" cy="274320"/>
          </a:xfrm>
          <a:prstGeom prst="rect">
            <a:avLst/>
          </a:prstGeom>
          <a:noFill/>
        </p:spPr>
        <p:txBody>
          <a:bodyPr wrap="square" lIns="0" rIns="0" tIns="0" bIns="0" anchor="t">
            <a:noAutofit/>
          </a:bodyPr>
          <a:lstStyle/>
          <a:p>
            <a:pPr algn="l"/>
            <a:r>
              <a:rPr sz="1010" b="1" i="0" spc="140">
                <a:solidFill>
                  <a:srgbClr val="5F6F78"/>
                </a:solidFill>
                <a:latin typeface="Frutiger"/>
              </a:rPr>
              <a:t>NOT YET RUN</a:t>
            </a:r>
          </a:p>
        </p:txBody>
      </p:sp>
      <p:sp>
        <p:nvSpPr>
          <p:cNvPr id="14" name="TextBox 13"/>
          <p:cNvSpPr txBox="1"/>
          <p:nvPr/>
        </p:nvSpPr>
        <p:spPr>
          <a:xfrm>
            <a:off x="8074152" y="3657600"/>
            <a:ext cx="3108960" cy="914400"/>
          </a:xfrm>
          <a:prstGeom prst="rect">
            <a:avLst/>
          </a:prstGeom>
          <a:noFill/>
        </p:spPr>
        <p:txBody>
          <a:bodyPr wrap="square" lIns="0" rIns="0" tIns="0" bIns="0" anchor="t">
            <a:noAutofit/>
          </a:bodyPr>
          <a:lstStyle/>
          <a:p>
            <a:pPr algn="l">
              <a:lnSpc>
                <a:spcPct val="100000"/>
              </a:lnSpc>
            </a:pPr>
            <a:r>
              <a:rPr sz="2180" b="0" i="0">
                <a:solidFill>
                  <a:srgbClr val="5F6F78"/>
                </a:solidFill>
                <a:latin typeface="Athelas"/>
              </a:rPr>
              <a:t>The next record</a:t>
            </a:r>
          </a:p>
        </p:txBody>
      </p:sp>
      <p:sp>
        <p:nvSpPr>
          <p:cNvPr id="15" name="TextBox 14"/>
          <p:cNvSpPr txBox="1"/>
          <p:nvPr/>
        </p:nvSpPr>
        <p:spPr>
          <a:xfrm>
            <a:off x="8074152" y="4709160"/>
            <a:ext cx="3108960" cy="1463040"/>
          </a:xfrm>
          <a:prstGeom prst="rect">
            <a:avLst/>
          </a:prstGeom>
          <a:noFill/>
        </p:spPr>
        <p:txBody>
          <a:bodyPr wrap="square" lIns="0" rIns="0" tIns="0" bIns="0" anchor="t">
            <a:noAutofit/>
          </a:bodyPr>
          <a:lstStyle/>
          <a:p>
            <a:pPr algn="l">
              <a:lnSpc>
                <a:spcPct val="112000"/>
              </a:lnSpc>
              <a:spcAft>
                <a:spcPts val="700"/>
              </a:spcAft>
            </a:pPr>
            <a:r>
              <a:rPr sz="1300" b="0" i="0">
                <a:solidFill>
                  <a:srgbClr val="5F6F78"/>
                </a:solidFill>
                <a:latin typeface="Frutiger"/>
              </a:rPr>
              <a:t>Another long rainfall or river series.</a:t>
            </a:r>
          </a:p>
          <a:p>
            <a:pPr algn="l">
              <a:lnSpc>
                <a:spcPct val="112000"/>
              </a:lnSpc>
              <a:spcAft>
                <a:spcPts val="700"/>
              </a:spcAft>
            </a:pPr>
            <a:r>
              <a:rPr sz="1300" b="0" i="0">
                <a:solidFill>
                  <a:srgbClr val="5F6F78"/>
                </a:solidFill>
                <a:latin typeface="Frutiger"/>
              </a:rPr>
              <a:t>Tested on two records so far.</a:t>
            </a:r>
          </a:p>
        </p:txBody>
      </p:sp>
      <p:pic>
        <p:nvPicPr>
          <p:cNvPr id="16" name="Picture 15" descr="logo.png"/>
          <p:cNvPicPr>
            <a:picLocks noChangeAspect="1"/>
          </p:cNvPicPr>
          <p:nvPr/>
        </p:nvPicPr>
        <p:blipFill>
          <a:blip r:embed="rId3"/>
          <a:stretch>
            <a:fillRect/>
          </a:stretch>
        </p:blipFill>
        <p:spPr>
          <a:xfrm>
            <a:off x="914400" y="6236208"/>
            <a:ext cx="2120348" cy="292608"/>
          </a:xfrm>
          <a:prstGeom prst="rect">
            <a:avLst/>
          </a:prstGeom>
        </p:spPr>
      </p:pic>
      <p:sp>
        <p:nvSpPr>
          <p:cNvPr id="17" name="TextBox 16"/>
          <p:cNvSpPr txBox="1"/>
          <p:nvPr/>
        </p:nvSpPr>
        <p:spPr>
          <a:xfrm>
            <a:off x="10637215" y="6309360"/>
            <a:ext cx="640080" cy="274320"/>
          </a:xfrm>
          <a:prstGeom prst="rect">
            <a:avLst/>
          </a:prstGeom>
          <a:noFill/>
        </p:spPr>
        <p:txBody>
          <a:bodyPr wrap="square" lIns="0" rIns="0" tIns="0" bIns="0" anchor="t">
            <a:noAutofit/>
          </a:bodyPr>
          <a:lstStyle/>
          <a:p>
            <a:pPr algn="r"/>
            <a:r>
              <a:rPr sz="1000" b="0" i="0">
                <a:solidFill>
                  <a:srgbClr val="5F6F78"/>
                </a:solidFill>
                <a:latin typeface="Frutiger"/>
              </a:rPr>
              <a:t>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914400" y="685800"/>
            <a:ext cx="10362895" cy="1371600"/>
          </a:xfrm>
          <a:prstGeom prst="rect">
            <a:avLst/>
          </a:prstGeom>
          <a:noFill/>
        </p:spPr>
        <p:txBody>
          <a:bodyPr wrap="square" lIns="0" rIns="0" tIns="0" bIns="0" anchor="t">
            <a:noAutofit/>
          </a:bodyPr>
          <a:lstStyle/>
          <a:p>
            <a:pPr algn="l">
              <a:lnSpc>
                <a:spcPct val="105000"/>
              </a:lnSpc>
            </a:pPr>
            <a:r>
              <a:rPr sz="3360" b="0" i="0">
                <a:solidFill>
                  <a:srgbClr val="111A20"/>
                </a:solidFill>
                <a:latin typeface="Athelas"/>
              </a:rPr>
              <a:t>The end result is how people respond</a:t>
            </a:r>
          </a:p>
        </p:txBody>
      </p:sp>
      <p:sp>
        <p:nvSpPr>
          <p:cNvPr id="3" name="TextBox 2"/>
          <p:cNvSpPr txBox="1"/>
          <p:nvPr/>
        </p:nvSpPr>
        <p:spPr>
          <a:xfrm>
            <a:off x="914400" y="1463040"/>
            <a:ext cx="10362895" cy="365760"/>
          </a:xfrm>
          <a:prstGeom prst="rect">
            <a:avLst/>
          </a:prstGeom>
          <a:noFill/>
        </p:spPr>
        <p:txBody>
          <a:bodyPr wrap="square" lIns="0" rIns="0" tIns="0" bIns="0" anchor="t">
            <a:noAutofit/>
          </a:bodyPr>
          <a:lstStyle/>
          <a:p>
            <a:pPr algn="l"/>
            <a:r>
              <a:rPr sz="1340" b="0" i="0">
                <a:solidFill>
                  <a:srgbClr val="5F6F78"/>
                </a:solidFill>
                <a:latin typeface="Frutiger"/>
              </a:rPr>
              <a:t>The model's output is a score, not a feeling. What a flagged year should feel like comes from people, not from the model.</a:t>
            </a:r>
          </a:p>
        </p:txBody>
      </p:sp>
      <p:cxnSp>
        <p:nvCxnSpPr>
          <p:cNvPr id="4" name="Connector 3"/>
          <p:cNvCxnSpPr/>
          <p:nvPr/>
        </p:nvCxnSpPr>
        <p:spPr>
          <a:xfrm>
            <a:off x="914400" y="2331720"/>
            <a:ext cx="3200400" cy="0"/>
          </a:xfrm>
          <a:prstGeom prst="line">
            <a:avLst/>
          </a:prstGeom>
          <a:ln w="38100">
            <a:solidFill>
              <a:srgbClr val="00526F"/>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914400" y="2606039"/>
            <a:ext cx="3200400" cy="274320"/>
          </a:xfrm>
          <a:prstGeom prst="rect">
            <a:avLst/>
          </a:prstGeom>
          <a:noFill/>
        </p:spPr>
        <p:txBody>
          <a:bodyPr wrap="square" lIns="0" rIns="0" tIns="0" bIns="0" anchor="t">
            <a:noAutofit/>
          </a:bodyPr>
          <a:lstStyle/>
          <a:p>
            <a:pPr algn="l"/>
            <a:r>
              <a:rPr sz="1010" b="1" i="0" spc="140">
                <a:solidFill>
                  <a:srgbClr val="00526F"/>
                </a:solidFill>
                <a:latin typeface="Frutiger"/>
              </a:rPr>
              <a:t>PERCEPTION</a:t>
            </a:r>
          </a:p>
        </p:txBody>
      </p:sp>
      <p:sp>
        <p:nvSpPr>
          <p:cNvPr id="6" name="TextBox 5"/>
          <p:cNvSpPr txBox="1"/>
          <p:nvPr/>
        </p:nvSpPr>
        <p:spPr>
          <a:xfrm>
            <a:off x="914400" y="3063239"/>
            <a:ext cx="3108960" cy="822960"/>
          </a:xfrm>
          <a:prstGeom prst="rect">
            <a:avLst/>
          </a:prstGeom>
          <a:noFill/>
        </p:spPr>
        <p:txBody>
          <a:bodyPr wrap="square" lIns="0" rIns="0" tIns="0" bIns="0" anchor="t">
            <a:noAutofit/>
          </a:bodyPr>
          <a:lstStyle/>
          <a:p>
            <a:pPr algn="l">
              <a:lnSpc>
                <a:spcPct val="105000"/>
              </a:lnSpc>
            </a:pPr>
            <a:r>
              <a:rPr sz="1850" b="0" i="0">
                <a:solidFill>
                  <a:srgbClr val="111A20"/>
                </a:solidFill>
                <a:latin typeface="Athelas"/>
              </a:rPr>
              <a:t>Do people feel what it intends?</a:t>
            </a:r>
          </a:p>
        </p:txBody>
      </p:sp>
      <p:sp>
        <p:nvSpPr>
          <p:cNvPr id="7" name="TextBox 6"/>
          <p:cNvSpPr txBox="1"/>
          <p:nvPr/>
        </p:nvSpPr>
        <p:spPr>
          <a:xfrm>
            <a:off x="914400" y="3931920"/>
            <a:ext cx="3108960" cy="1371600"/>
          </a:xfrm>
          <a:prstGeom prst="rect">
            <a:avLst/>
          </a:prstGeom>
          <a:noFill/>
        </p:spPr>
        <p:txBody>
          <a:bodyPr wrap="square" lIns="0" rIns="0" tIns="0" bIns="0" anchor="t">
            <a:noAutofit/>
          </a:bodyPr>
          <a:lstStyle/>
          <a:p>
            <a:pPr algn="l">
              <a:lnSpc>
                <a:spcPct val="112000"/>
              </a:lnSpc>
            </a:pPr>
            <a:r>
              <a:rPr sz="1180" b="0" i="0">
                <a:solidFill>
                  <a:srgbClr val="5F6F78"/>
                </a:solidFill>
                <a:latin typeface="Frutiger"/>
              </a:rPr>
              <a:t>The step from anomaly score to emotion is designed by hand. Nobody has tested whether viewers feel it.</a:t>
            </a:r>
          </a:p>
        </p:txBody>
      </p:sp>
      <p:cxnSp>
        <p:nvCxnSpPr>
          <p:cNvPr id="8" name="Connector 7"/>
          <p:cNvCxnSpPr/>
          <p:nvPr/>
        </p:nvCxnSpPr>
        <p:spPr>
          <a:xfrm>
            <a:off x="4494276" y="2331720"/>
            <a:ext cx="3200399" cy="0"/>
          </a:xfrm>
          <a:prstGeom prst="line">
            <a:avLst/>
          </a:prstGeom>
          <a:ln w="38100">
            <a:solidFill>
              <a:srgbClr val="00526F"/>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4494276" y="2606039"/>
            <a:ext cx="3200400" cy="274320"/>
          </a:xfrm>
          <a:prstGeom prst="rect">
            <a:avLst/>
          </a:prstGeom>
          <a:noFill/>
        </p:spPr>
        <p:txBody>
          <a:bodyPr wrap="square" lIns="0" rIns="0" tIns="0" bIns="0" anchor="t">
            <a:noAutofit/>
          </a:bodyPr>
          <a:lstStyle/>
          <a:p>
            <a:pPr algn="l"/>
            <a:r>
              <a:rPr sz="1010" b="1" i="0" spc="140">
                <a:solidFill>
                  <a:srgbClr val="00526F"/>
                </a:solidFill>
                <a:latin typeface="Frutiger"/>
              </a:rPr>
              <a:t>UNDERSTANDING AND TRUST</a:t>
            </a:r>
          </a:p>
        </p:txBody>
      </p:sp>
      <p:sp>
        <p:nvSpPr>
          <p:cNvPr id="10" name="TextBox 9"/>
          <p:cNvSpPr txBox="1"/>
          <p:nvPr/>
        </p:nvSpPr>
        <p:spPr>
          <a:xfrm>
            <a:off x="4494276" y="3063239"/>
            <a:ext cx="3108960" cy="822960"/>
          </a:xfrm>
          <a:prstGeom prst="rect">
            <a:avLst/>
          </a:prstGeom>
          <a:noFill/>
        </p:spPr>
        <p:txBody>
          <a:bodyPr wrap="square" lIns="0" rIns="0" tIns="0" bIns="0" anchor="t">
            <a:noAutofit/>
          </a:bodyPr>
          <a:lstStyle/>
          <a:p>
            <a:pPr algn="l">
              <a:lnSpc>
                <a:spcPct val="105000"/>
              </a:lnSpc>
            </a:pPr>
            <a:r>
              <a:rPr sz="1850" b="0" i="0">
                <a:solidFill>
                  <a:srgbClr val="111A20"/>
                </a:solidFill>
                <a:latin typeface="Athelas"/>
              </a:rPr>
              <a:t>Do they know what a flag means?</a:t>
            </a:r>
          </a:p>
        </p:txBody>
      </p:sp>
      <p:sp>
        <p:nvSpPr>
          <p:cNvPr id="11" name="TextBox 10"/>
          <p:cNvSpPr txBox="1"/>
          <p:nvPr/>
        </p:nvSpPr>
        <p:spPr>
          <a:xfrm>
            <a:off x="4494276" y="3931920"/>
            <a:ext cx="3108960" cy="1371600"/>
          </a:xfrm>
          <a:prstGeom prst="rect">
            <a:avLst/>
          </a:prstGeom>
          <a:noFill/>
        </p:spPr>
        <p:txBody>
          <a:bodyPr wrap="square" lIns="0" rIns="0" tIns="0" bIns="0" anchor="t">
            <a:noAutofit/>
          </a:bodyPr>
          <a:lstStyle/>
          <a:p>
            <a:pPr algn="l">
              <a:lnSpc>
                <a:spcPct val="112000"/>
              </a:lnSpc>
            </a:pPr>
            <a:r>
              <a:rPr sz="1180" b="0" i="0">
                <a:solidFill>
                  <a:srgbClr val="5F6F78"/>
                </a:solidFill>
                <a:latin typeface="Frutiger"/>
              </a:rPr>
              <a:t>A flag is not the whole picture: a drought looks like an ordinary dry year to the model. Do people know what a missing flag does not tell them?</a:t>
            </a:r>
          </a:p>
        </p:txBody>
      </p:sp>
      <p:cxnSp>
        <p:nvCxnSpPr>
          <p:cNvPr id="12" name="Connector 11"/>
          <p:cNvCxnSpPr/>
          <p:nvPr/>
        </p:nvCxnSpPr>
        <p:spPr>
          <a:xfrm>
            <a:off x="8074152" y="2331720"/>
            <a:ext cx="3200400" cy="0"/>
          </a:xfrm>
          <a:prstGeom prst="line">
            <a:avLst/>
          </a:prstGeom>
          <a:ln w="38100">
            <a:solidFill>
              <a:srgbClr val="00526F"/>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8074152" y="2606039"/>
            <a:ext cx="3200400" cy="274320"/>
          </a:xfrm>
          <a:prstGeom prst="rect">
            <a:avLst/>
          </a:prstGeom>
          <a:noFill/>
        </p:spPr>
        <p:txBody>
          <a:bodyPr wrap="square" lIns="0" rIns="0" tIns="0" bIns="0" anchor="t">
            <a:noAutofit/>
          </a:bodyPr>
          <a:lstStyle/>
          <a:p>
            <a:pPr algn="l"/>
            <a:r>
              <a:rPr sz="1010" b="1" i="0" spc="140">
                <a:solidFill>
                  <a:srgbClr val="00526F"/>
                </a:solidFill>
                <a:latin typeface="Frutiger"/>
              </a:rPr>
              <a:t>DECISION</a:t>
            </a:r>
          </a:p>
        </p:txBody>
      </p:sp>
      <p:sp>
        <p:nvSpPr>
          <p:cNvPr id="14" name="TextBox 13"/>
          <p:cNvSpPr txBox="1"/>
          <p:nvPr/>
        </p:nvSpPr>
        <p:spPr>
          <a:xfrm>
            <a:off x="8074152" y="3063239"/>
            <a:ext cx="3108960" cy="822960"/>
          </a:xfrm>
          <a:prstGeom prst="rect">
            <a:avLst/>
          </a:prstGeom>
          <a:noFill/>
        </p:spPr>
        <p:txBody>
          <a:bodyPr wrap="square" lIns="0" rIns="0" tIns="0" bIns="0" anchor="t">
            <a:noAutofit/>
          </a:bodyPr>
          <a:lstStyle/>
          <a:p>
            <a:pPr algn="l">
              <a:lnSpc>
                <a:spcPct val="105000"/>
              </a:lnSpc>
            </a:pPr>
            <a:r>
              <a:rPr sz="1850" b="0" i="0">
                <a:solidFill>
                  <a:srgbClr val="111A20"/>
                </a:solidFill>
                <a:latin typeface="Athelas"/>
              </a:rPr>
              <a:t>Does it help them decide?</a:t>
            </a:r>
          </a:p>
        </p:txBody>
      </p:sp>
      <p:sp>
        <p:nvSpPr>
          <p:cNvPr id="15" name="TextBox 14"/>
          <p:cNvSpPr txBox="1"/>
          <p:nvPr/>
        </p:nvSpPr>
        <p:spPr>
          <a:xfrm>
            <a:off x="8074152" y="3931920"/>
            <a:ext cx="3108960" cy="1371600"/>
          </a:xfrm>
          <a:prstGeom prst="rect">
            <a:avLst/>
          </a:prstGeom>
          <a:noFill/>
        </p:spPr>
        <p:txBody>
          <a:bodyPr wrap="square" lIns="0" rIns="0" tIns="0" bIns="0" anchor="t">
            <a:noAutofit/>
          </a:bodyPr>
          <a:lstStyle/>
          <a:p>
            <a:pPr algn="l">
              <a:lnSpc>
                <a:spcPct val="112000"/>
              </a:lnSpc>
            </a:pPr>
            <a:r>
              <a:rPr sz="1180" b="0" i="0">
                <a:solidFill>
                  <a:srgbClr val="5F6F78"/>
                </a:solidFill>
                <a:latin typeface="Frutiger"/>
              </a:rPr>
              <a:t>Does an XR and sound experience change how decision-makers understand a river, compared with a standard chart?</a:t>
            </a:r>
          </a:p>
        </p:txBody>
      </p:sp>
      <p:cxnSp>
        <p:nvCxnSpPr>
          <p:cNvPr id="16" name="Connector 15"/>
          <p:cNvCxnSpPr/>
          <p:nvPr/>
        </p:nvCxnSpPr>
        <p:spPr>
          <a:xfrm>
            <a:off x="914400" y="5230368"/>
            <a:ext cx="10362895" cy="0"/>
          </a:xfrm>
          <a:prstGeom prst="line">
            <a:avLst/>
          </a:prstGeom>
          <a:ln w="15875">
            <a:solidFill>
              <a:srgbClr val="D3DDE2"/>
            </a:solidFill>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914400" y="5376672"/>
            <a:ext cx="10362895" cy="731520"/>
          </a:xfrm>
          <a:prstGeom prst="rect">
            <a:avLst/>
          </a:prstGeom>
          <a:noFill/>
        </p:spPr>
        <p:txBody>
          <a:bodyPr wrap="square" lIns="0" rIns="0" tIns="0" bIns="0" anchor="t">
            <a:noAutofit/>
          </a:bodyPr>
          <a:lstStyle/>
          <a:p>
            <a:pPr algn="l">
              <a:lnSpc>
                <a:spcPct val="110000"/>
              </a:lnSpc>
            </a:pPr>
            <a:r>
              <a:rPr sz="1180" b="1" i="0" spc="100">
                <a:solidFill>
                  <a:srgbClr val="00526F"/>
                </a:solidFill>
                <a:latin typeface="Frutiger"/>
              </a:rPr>
              <a:t>Next  </a:t>
            </a:r>
            <a:r>
              <a:rPr sz="1510" b="0" i="0">
                <a:solidFill>
                  <a:srgbClr val="111A20"/>
                </a:solidFill>
                <a:latin typeface="Athelas"/>
              </a:rPr>
              <a:t>learn the mapping from human responses, and test it with the people who make water decisions.</a:t>
            </a:r>
          </a:p>
        </p:txBody>
      </p:sp>
      <p:sp>
        <p:nvSpPr>
          <p:cNvPr id="18" name="TextBox 17"/>
          <p:cNvSpPr txBox="1"/>
          <p:nvPr/>
        </p:nvSpPr>
        <p:spPr>
          <a:xfrm>
            <a:off x="7162495" y="6309360"/>
            <a:ext cx="3383280" cy="274320"/>
          </a:xfrm>
          <a:prstGeom prst="rect">
            <a:avLst/>
          </a:prstGeom>
          <a:noFill/>
        </p:spPr>
        <p:txBody>
          <a:bodyPr wrap="square" lIns="0" rIns="0" tIns="0" bIns="0" anchor="t">
            <a:noAutofit/>
          </a:bodyPr>
          <a:lstStyle/>
          <a:p>
            <a:pPr algn="r"/>
            <a:r>
              <a:rPr sz="1000" b="1" i="0">
                <a:solidFill>
                  <a:srgbClr val="00526F"/>
                </a:solidFill>
                <a:latin typeface="Frutiger"/>
              </a:rPr>
              <a:t>github.com/qintheory/noea</a:t>
            </a:r>
          </a:p>
        </p:txBody>
      </p:sp>
      <p:pic>
        <p:nvPicPr>
          <p:cNvPr id="19" name="Picture 18" descr="logo.png"/>
          <p:cNvPicPr>
            <a:picLocks noChangeAspect="1"/>
          </p:cNvPicPr>
          <p:nvPr/>
        </p:nvPicPr>
        <p:blipFill>
          <a:blip r:embed="rId3"/>
          <a:stretch>
            <a:fillRect/>
          </a:stretch>
        </p:blipFill>
        <p:spPr>
          <a:xfrm>
            <a:off x="914400" y="6236208"/>
            <a:ext cx="2120348" cy="292608"/>
          </a:xfrm>
          <a:prstGeom prst="rect">
            <a:avLst/>
          </a:prstGeom>
        </p:spPr>
      </p:pic>
      <p:sp>
        <p:nvSpPr>
          <p:cNvPr id="20" name="TextBox 19"/>
          <p:cNvSpPr txBox="1"/>
          <p:nvPr/>
        </p:nvSpPr>
        <p:spPr>
          <a:xfrm>
            <a:off x="10637215" y="6309360"/>
            <a:ext cx="640080" cy="274320"/>
          </a:xfrm>
          <a:prstGeom prst="rect">
            <a:avLst/>
          </a:prstGeom>
          <a:noFill/>
        </p:spPr>
        <p:txBody>
          <a:bodyPr wrap="square" lIns="0" rIns="0" tIns="0" bIns="0" anchor="t">
            <a:noAutofit/>
          </a:bodyPr>
          <a:lstStyle/>
          <a:p>
            <a:pPr algn="r"/>
            <a:r>
              <a:rPr sz="1000" b="0" i="0">
                <a:solidFill>
                  <a:srgbClr val="5F6F78"/>
                </a:solidFill>
                <a:latin typeface="Frutiger"/>
              </a:rPr>
              <a:t>7</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Noéa — an introduction</dc:title>
  <dc:subject/>
  <dc:creator>Meeting of Waters</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