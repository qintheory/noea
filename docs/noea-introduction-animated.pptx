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Noéa translates long hydrological records into something people can experience. The ECG below is real data: Hong Kong's annual peak daily rainfall, 1884 to 2025, one beat per year.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stations measure more rain and more rivers every year. The data can tell us a river is changing. What it rarely does is make anyone feel it, and without that, decisions stall.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Noéa translates hydrological records into something people can experience. It reads a rainfall or river record the way a cardiologist reads an ECG, looking for rhythm, memory and shock. From that it derives two affective values, valence and arousal: how pleasant or distressing, and how activated. Those are designed to feed into an XR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 is built to be universal, where each record fits its own model on its own history. Public records of Hong Kong and the Rhine are the two we've tested. And another rainfall or river record can go through the same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layers, kept deliberately apart. The first diagnostic layer is plain science: for Hong Kong, over a century of daily rainfall; for the Rhine and its alpine tributaries, eight stations of discharge. The second layer is curatorial, which is currently kept separate from the measurements, so the feeling would be redesigned without changing any of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has one job so far: finding unusual years. For each record, an unsupervised model learns what a typical year looks like, then scores how badly each year fails to 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Noéa connects machine intelligence to natural intelligence: a model learns the rhythm of a river or rainfall record and flags when it breaks. How people respond to that now has to be tested in human labs, with HCI methods. That is the research.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48640"/>
            <a:ext cx="8229600" cy="1737360"/>
          </a:xfrm>
          <a:prstGeom prst="rect">
            <a:avLst/>
          </a:prstGeom>
          <a:noFill/>
        </p:spPr>
        <p:txBody>
          <a:bodyPr wrap="square" lIns="0" rIns="0" tIns="0" bIns="0" anchor="t">
            <a:noAutofit/>
          </a:bodyPr>
          <a:lstStyle/>
          <a:p>
            <a:pPr algn="l"/>
            <a:r>
              <a:rPr sz="9410" b="0" i="0">
                <a:solidFill>
                  <a:srgbClr val="111A20"/>
                </a:solidFill>
                <a:latin typeface="Athelas"/>
              </a:rPr>
              <a:t>Noéa</a:t>
            </a:r>
          </a:p>
        </p:txBody>
      </p:sp>
      <p:sp>
        <p:nvSpPr>
          <p:cNvPr id="3" name="TextBox 2"/>
          <p:cNvSpPr txBox="1"/>
          <p:nvPr/>
        </p:nvSpPr>
        <p:spPr>
          <a:xfrm>
            <a:off x="914400" y="2194560"/>
            <a:ext cx="10362895" cy="640080"/>
          </a:xfrm>
          <a:prstGeom prst="rect">
            <a:avLst/>
          </a:prstGeom>
          <a:noFill/>
        </p:spPr>
        <p:txBody>
          <a:bodyPr wrap="square" lIns="0" rIns="0" tIns="0" bIns="0" anchor="t">
            <a:noAutofit/>
          </a:bodyPr>
          <a:lstStyle/>
          <a:p>
            <a:pPr algn="l"/>
            <a:r>
              <a:rPr sz="2520" b="0" i="1">
                <a:solidFill>
                  <a:srgbClr val="00526F"/>
                </a:solidFill>
                <a:latin typeface="Athelas"/>
              </a:rPr>
              <a:t>Reading water as rhythm, memory and mood</a:t>
            </a:r>
          </a:p>
        </p:txBody>
      </p:sp>
      <p:sp>
        <p:nvSpPr>
          <p:cNvPr id="4" name="TextBox 3"/>
          <p:cNvSpPr txBox="1"/>
          <p:nvPr/>
        </p:nvSpPr>
        <p:spPr>
          <a:xfrm>
            <a:off x="914400" y="2788920"/>
            <a:ext cx="10362895" cy="365760"/>
          </a:xfrm>
          <a:prstGeom prst="rect">
            <a:avLst/>
          </a:prstGeom>
          <a:noFill/>
        </p:spPr>
        <p:txBody>
          <a:bodyPr wrap="square" lIns="0" rIns="0" tIns="0" bIns="0" anchor="t">
            <a:noAutofit/>
          </a:bodyPr>
          <a:lstStyle/>
          <a:p>
            <a:pPr algn="l"/>
            <a:r>
              <a:rPr sz="1340" b="0" i="0">
                <a:solidFill>
                  <a:srgbClr val="5F6F78"/>
                </a:solidFill>
                <a:latin typeface="Frutiger"/>
              </a:rPr>
              <a:t>Affective computing for water systems</a:t>
            </a:r>
          </a:p>
        </p:txBody>
      </p:sp>
      <p:pic>
        <p:nvPicPr>
          <p:cNvPr id="5" name="Picture 4" descr="ecg_row1.png"/>
          <p:cNvPicPr>
            <a:picLocks noChangeAspect="1"/>
          </p:cNvPicPr>
          <p:nvPr/>
        </p:nvPicPr>
        <p:blipFill>
          <a:blip r:embed="rId3"/>
          <a:stretch>
            <a:fillRect/>
          </a:stretch>
        </p:blipFill>
        <p:spPr>
          <a:xfrm>
            <a:off x="914400" y="3840480"/>
            <a:ext cx="10362895" cy="1342645"/>
          </a:xfrm>
          <a:prstGeom prst="rect">
            <a:avLst/>
          </a:prstGeom>
        </p:spPr>
      </p:pic>
      <p:sp>
        <p:nvSpPr>
          <p:cNvPr id="6" name="TextBox 5"/>
          <p:cNvSpPr txBox="1"/>
          <p:nvPr/>
        </p:nvSpPr>
        <p:spPr>
          <a:xfrm>
            <a:off x="914400" y="5897880"/>
            <a:ext cx="10362895" cy="274320"/>
          </a:xfrm>
          <a:prstGeom prst="rect">
            <a:avLst/>
          </a:prstGeom>
          <a:noFill/>
        </p:spPr>
        <p:txBody>
          <a:bodyPr wrap="square" lIns="0" rIns="0" tIns="0" bIns="0" anchor="t">
            <a:noAutofit/>
          </a:bodyPr>
          <a:lstStyle/>
          <a:p>
            <a:pPr algn="l"/>
            <a:r>
              <a:rPr sz="1000" b="0" i="0">
                <a:solidFill>
                  <a:srgbClr val="5F6F78"/>
                </a:solidFill>
                <a:latin typeface="Frutiger"/>
              </a:rPr>
              <a:t>Hong Kong, 1884–2025: one beat per year. Height is the year's peak daily rainfall; spacing is the time since the previous peak.</a:t>
            </a:r>
          </a:p>
        </p:txBody>
      </p:sp>
      <p:pic>
        <p:nvPicPr>
          <p:cNvPr id="7" name="Picture 6" descr="logo.png"/>
          <p:cNvPicPr>
            <a:picLocks noChangeAspect="1"/>
          </p:cNvPicPr>
          <p:nvPr/>
        </p:nvPicPr>
        <p:blipFill>
          <a:blip r:embed="rId4"/>
          <a:stretch>
            <a:fillRect/>
          </a:stretch>
        </p:blipFill>
        <p:spPr>
          <a:xfrm>
            <a:off x="914400" y="6236208"/>
            <a:ext cx="2120348" cy="2926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22" presetClass="entr" presetSubtype="8" fill="hold" nodeType="afterEffect">
                                  <p:stCondLst>
                                    <p:cond delay="50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7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011680"/>
            <a:ext cx="10362895" cy="2194560"/>
          </a:xfrm>
          <a:prstGeom prst="rect">
            <a:avLst/>
          </a:prstGeom>
          <a:noFill/>
        </p:spPr>
        <p:txBody>
          <a:bodyPr wrap="square" lIns="0" rIns="0" tIns="0" bIns="0" anchor="t">
            <a:noAutofit/>
          </a:bodyPr>
          <a:lstStyle/>
          <a:p>
            <a:pPr algn="l">
              <a:lnSpc>
                <a:spcPct val="110000"/>
              </a:lnSpc>
            </a:pPr>
            <a:r>
              <a:rPr sz="3860" b="0" i="0">
                <a:solidFill>
                  <a:srgbClr val="111A20"/>
                </a:solidFill>
                <a:latin typeface="Athelas"/>
              </a:rPr>
              <a:t>Data can show that a river is changing. It rarely makes anyone feel it.</a:t>
            </a:r>
          </a:p>
        </p:txBody>
      </p:sp>
      <p:cxnSp>
        <p:nvCxnSpPr>
          <p:cNvPr id="3" name="Connector 2"/>
          <p:cNvCxnSpPr/>
          <p:nvPr/>
        </p:nvCxnSpPr>
        <p:spPr>
          <a:xfrm>
            <a:off x="914400" y="4206240"/>
            <a:ext cx="1097280" cy="0"/>
          </a:xfrm>
          <a:prstGeom prst="line">
            <a:avLst/>
          </a:prstGeom>
          <a:ln w="38100">
            <a:solidFill>
              <a:srgbClr val="00526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4434840"/>
            <a:ext cx="10362895" cy="914400"/>
          </a:xfrm>
          <a:prstGeom prst="rect">
            <a:avLst/>
          </a:prstGeom>
          <a:noFill/>
        </p:spPr>
        <p:txBody>
          <a:bodyPr wrap="square" lIns="0" rIns="0" tIns="0" bIns="0" anchor="t">
            <a:noAutofit/>
          </a:bodyPr>
          <a:lstStyle/>
          <a:p>
            <a:pPr algn="l">
              <a:lnSpc>
                <a:spcPct val="115000"/>
              </a:lnSpc>
            </a:pPr>
            <a:r>
              <a:rPr sz="1850" b="0" i="1">
                <a:solidFill>
                  <a:srgbClr val="00526F"/>
                </a:solidFill>
                <a:latin typeface="Athelas"/>
              </a:rPr>
              <a:t>Noéa works in the missing layer: turning measurement into meaning people can experience.</a:t>
            </a:r>
          </a:p>
        </p:txBody>
      </p:sp>
      <p:pic>
        <p:nvPicPr>
          <p:cNvPr id="5" name="Picture 4" descr="logo.png"/>
          <p:cNvPicPr>
            <a:picLocks noChangeAspect="1"/>
          </p:cNvPicPr>
          <p:nvPr/>
        </p:nvPicPr>
        <p:blipFill>
          <a:blip r:embed="rId3"/>
          <a:stretch>
            <a:fillRect/>
          </a:stretch>
        </p:blipFill>
        <p:spPr>
          <a:xfrm>
            <a:off x="914400" y="6236208"/>
            <a:ext cx="2120348" cy="292608"/>
          </a:xfrm>
          <a:prstGeom prst="rect">
            <a:avLst/>
          </a:prstGeom>
        </p:spPr>
      </p:pic>
      <p:sp>
        <p:nvSpPr>
          <p:cNvPr id="6" name="TextBox 5"/>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685800"/>
            <a:ext cx="10362895" cy="1371600"/>
          </a:xfrm>
          <a:prstGeom prst="rect">
            <a:avLst/>
          </a:prstGeom>
          <a:noFill/>
        </p:spPr>
        <p:txBody>
          <a:bodyPr wrap="square" lIns="0" rIns="0" tIns="0" bIns="0" anchor="t">
            <a:noAutofit/>
          </a:bodyPr>
          <a:lstStyle/>
          <a:p>
            <a:pPr algn="l">
              <a:lnSpc>
                <a:spcPct val="105000"/>
              </a:lnSpc>
            </a:pPr>
            <a:r>
              <a:rPr sz="3020" b="0" i="0">
                <a:solidFill>
                  <a:srgbClr val="111A20"/>
                </a:solidFill>
                <a:latin typeface="Athelas"/>
              </a:rPr>
              <a:t>It reads a record the way a cardiologist reads an ECG</a:t>
            </a:r>
          </a:p>
        </p:txBody>
      </p:sp>
      <p:cxnSp>
        <p:nvCxnSpPr>
          <p:cNvPr id="3" name="Connector 2"/>
          <p:cNvCxnSpPr/>
          <p:nvPr/>
        </p:nvCxnSpPr>
        <p:spPr>
          <a:xfrm>
            <a:off x="914400" y="2514600"/>
            <a:ext cx="2377440"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2743200"/>
            <a:ext cx="2377440" cy="274320"/>
          </a:xfrm>
          <a:prstGeom prst="rect">
            <a:avLst/>
          </a:prstGeom>
          <a:noFill/>
        </p:spPr>
        <p:txBody>
          <a:bodyPr wrap="square" lIns="0" rIns="0" tIns="0" bIns="0" anchor="t">
            <a:noAutofit/>
          </a:bodyPr>
          <a:lstStyle/>
          <a:p>
            <a:pPr algn="l"/>
            <a:r>
              <a:rPr sz="1090" b="1" i="0" spc="100">
                <a:solidFill>
                  <a:srgbClr val="5390A2"/>
                </a:solidFill>
                <a:latin typeface="Frutiger"/>
              </a:rPr>
              <a:t>01</a:t>
            </a:r>
          </a:p>
        </p:txBody>
      </p:sp>
      <p:sp>
        <p:nvSpPr>
          <p:cNvPr id="5" name="TextBox 4"/>
          <p:cNvSpPr txBox="1"/>
          <p:nvPr/>
        </p:nvSpPr>
        <p:spPr>
          <a:xfrm>
            <a:off x="914400" y="3154680"/>
            <a:ext cx="2377440" cy="822960"/>
          </a:xfrm>
          <a:prstGeom prst="rect">
            <a:avLst/>
          </a:prstGeom>
          <a:noFill/>
        </p:spPr>
        <p:txBody>
          <a:bodyPr wrap="square" lIns="0" rIns="0" tIns="0" bIns="0" anchor="t">
            <a:noAutofit/>
          </a:bodyPr>
          <a:lstStyle/>
          <a:p>
            <a:pPr algn="l">
              <a:lnSpc>
                <a:spcPct val="100000"/>
              </a:lnSpc>
            </a:pPr>
            <a:r>
              <a:rPr sz="1930" b="0" i="0">
                <a:solidFill>
                  <a:srgbClr val="111A20"/>
                </a:solidFill>
                <a:latin typeface="Athelas"/>
              </a:rPr>
              <a:t>A long record</a:t>
            </a:r>
          </a:p>
        </p:txBody>
      </p:sp>
      <p:sp>
        <p:nvSpPr>
          <p:cNvPr id="6" name="TextBox 5"/>
          <p:cNvSpPr txBox="1"/>
          <p:nvPr/>
        </p:nvSpPr>
        <p:spPr>
          <a:xfrm>
            <a:off x="914400" y="3931920"/>
            <a:ext cx="2331720" cy="2011680"/>
          </a:xfrm>
          <a:prstGeom prst="rect">
            <a:avLst/>
          </a:prstGeom>
          <a:noFill/>
        </p:spPr>
        <p:txBody>
          <a:bodyPr wrap="square" lIns="0" rIns="0" tIns="0" bIns="0" anchor="t">
            <a:noAutofit/>
          </a:bodyPr>
          <a:lstStyle/>
          <a:p>
            <a:pPr algn="l">
              <a:lnSpc>
                <a:spcPct val="112000"/>
              </a:lnSpc>
              <a:spcAft>
                <a:spcPts val="700"/>
              </a:spcAft>
            </a:pPr>
            <a:r>
              <a:rPr sz="1220" b="0" i="0">
                <a:solidFill>
                  <a:srgbClr val="5F6F78"/>
                </a:solidFill>
                <a:latin typeface="Frutiger"/>
              </a:rPr>
              <a:t>Daily rainfall or river discharge, covering decades to centuries.</a:t>
            </a:r>
          </a:p>
        </p:txBody>
      </p:sp>
      <p:cxnSp>
        <p:nvCxnSpPr>
          <p:cNvPr id="7" name="Connector 6"/>
          <p:cNvCxnSpPr/>
          <p:nvPr/>
        </p:nvCxnSpPr>
        <p:spPr>
          <a:xfrm>
            <a:off x="3575304" y="2514600"/>
            <a:ext cx="2377440"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575304" y="2743200"/>
            <a:ext cx="2377440" cy="274320"/>
          </a:xfrm>
          <a:prstGeom prst="rect">
            <a:avLst/>
          </a:prstGeom>
          <a:noFill/>
        </p:spPr>
        <p:txBody>
          <a:bodyPr wrap="square" lIns="0" rIns="0" tIns="0" bIns="0" anchor="t">
            <a:noAutofit/>
          </a:bodyPr>
          <a:lstStyle/>
          <a:p>
            <a:pPr algn="l"/>
            <a:r>
              <a:rPr sz="1090" b="1" i="0" spc="100">
                <a:solidFill>
                  <a:srgbClr val="5390A2"/>
                </a:solidFill>
                <a:latin typeface="Frutiger"/>
              </a:rPr>
              <a:t>02</a:t>
            </a:r>
          </a:p>
        </p:txBody>
      </p:sp>
      <p:sp>
        <p:nvSpPr>
          <p:cNvPr id="9" name="TextBox 8"/>
          <p:cNvSpPr txBox="1"/>
          <p:nvPr/>
        </p:nvSpPr>
        <p:spPr>
          <a:xfrm>
            <a:off x="3575304" y="3154680"/>
            <a:ext cx="2377440" cy="822960"/>
          </a:xfrm>
          <a:prstGeom prst="rect">
            <a:avLst/>
          </a:prstGeom>
          <a:noFill/>
        </p:spPr>
        <p:txBody>
          <a:bodyPr wrap="square" lIns="0" rIns="0" tIns="0" bIns="0" anchor="t">
            <a:noAutofit/>
          </a:bodyPr>
          <a:lstStyle/>
          <a:p>
            <a:pPr algn="l">
              <a:lnSpc>
                <a:spcPct val="100000"/>
              </a:lnSpc>
            </a:pPr>
            <a:r>
              <a:rPr sz="1930" b="0" i="0">
                <a:solidFill>
                  <a:srgbClr val="111A20"/>
                </a:solidFill>
                <a:latin typeface="Athelas"/>
              </a:rPr>
              <a:t>Diagnostics</a:t>
            </a:r>
          </a:p>
        </p:txBody>
      </p:sp>
      <p:sp>
        <p:nvSpPr>
          <p:cNvPr id="10" name="TextBox 9"/>
          <p:cNvSpPr txBox="1"/>
          <p:nvPr/>
        </p:nvSpPr>
        <p:spPr>
          <a:xfrm>
            <a:off x="3575304" y="3931920"/>
            <a:ext cx="2331720" cy="2011680"/>
          </a:xfrm>
          <a:prstGeom prst="rect">
            <a:avLst/>
          </a:prstGeom>
          <a:noFill/>
        </p:spPr>
        <p:txBody>
          <a:bodyPr wrap="square" lIns="0" rIns="0" tIns="0" bIns="0" anchor="t">
            <a:noAutofit/>
          </a:bodyPr>
          <a:lstStyle/>
          <a:p>
            <a:pPr algn="l">
              <a:lnSpc>
                <a:spcPct val="112000"/>
              </a:lnSpc>
              <a:spcAft>
                <a:spcPts val="700"/>
              </a:spcAft>
            </a:pPr>
            <a:r>
              <a:rPr sz="1220" b="0" i="0">
                <a:solidFill>
                  <a:srgbClr val="5F6F78"/>
                </a:solidFill>
                <a:latin typeface="Frutiger"/>
              </a:rPr>
              <a:t>Peaks and the gaps between them, return periods, flow duration, recession, the seasonal cycle.</a:t>
            </a:r>
          </a:p>
        </p:txBody>
      </p:sp>
      <p:cxnSp>
        <p:nvCxnSpPr>
          <p:cNvPr id="11" name="Connector 10"/>
          <p:cNvCxnSpPr/>
          <p:nvPr/>
        </p:nvCxnSpPr>
        <p:spPr>
          <a:xfrm>
            <a:off x="6236208" y="2514600"/>
            <a:ext cx="2377440" cy="0"/>
          </a:xfrm>
          <a:prstGeom prst="line">
            <a:avLst/>
          </a:prstGeom>
          <a:ln w="38100">
            <a:solidFill>
              <a:srgbClr val="00526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36208" y="2743200"/>
            <a:ext cx="2377440" cy="274320"/>
          </a:xfrm>
          <a:prstGeom prst="rect">
            <a:avLst/>
          </a:prstGeom>
          <a:noFill/>
        </p:spPr>
        <p:txBody>
          <a:bodyPr wrap="square" lIns="0" rIns="0" tIns="0" bIns="0" anchor="t">
            <a:noAutofit/>
          </a:bodyPr>
          <a:lstStyle/>
          <a:p>
            <a:pPr algn="l"/>
            <a:r>
              <a:rPr sz="1090" b="1" i="0" spc="100">
                <a:solidFill>
                  <a:srgbClr val="00526F"/>
                </a:solidFill>
                <a:latin typeface="Frutiger"/>
              </a:rPr>
              <a:t>03</a:t>
            </a:r>
          </a:p>
        </p:txBody>
      </p:sp>
      <p:sp>
        <p:nvSpPr>
          <p:cNvPr id="13" name="TextBox 12"/>
          <p:cNvSpPr txBox="1"/>
          <p:nvPr/>
        </p:nvSpPr>
        <p:spPr>
          <a:xfrm>
            <a:off x="6236208" y="3154680"/>
            <a:ext cx="2377440" cy="822960"/>
          </a:xfrm>
          <a:prstGeom prst="rect">
            <a:avLst/>
          </a:prstGeom>
          <a:noFill/>
        </p:spPr>
        <p:txBody>
          <a:bodyPr wrap="square" lIns="0" rIns="0" tIns="0" bIns="0" anchor="t">
            <a:noAutofit/>
          </a:bodyPr>
          <a:lstStyle/>
          <a:p>
            <a:pPr algn="l">
              <a:lnSpc>
                <a:spcPct val="100000"/>
              </a:lnSpc>
            </a:pPr>
            <a:r>
              <a:rPr sz="1930" b="0" i="0">
                <a:solidFill>
                  <a:srgbClr val="111A20"/>
                </a:solidFill>
                <a:latin typeface="Athelas"/>
              </a:rPr>
              <a:t>Two affective values</a:t>
            </a:r>
          </a:p>
        </p:txBody>
      </p:sp>
      <p:sp>
        <p:nvSpPr>
          <p:cNvPr id="14" name="TextBox 13"/>
          <p:cNvSpPr txBox="1"/>
          <p:nvPr/>
        </p:nvSpPr>
        <p:spPr>
          <a:xfrm>
            <a:off x="6236208" y="3931920"/>
            <a:ext cx="2331720" cy="2011680"/>
          </a:xfrm>
          <a:prstGeom prst="rect">
            <a:avLst/>
          </a:prstGeom>
          <a:noFill/>
        </p:spPr>
        <p:txBody>
          <a:bodyPr wrap="square" lIns="0" rIns="0" tIns="0" bIns="0" anchor="t">
            <a:noAutofit/>
          </a:bodyPr>
          <a:lstStyle/>
          <a:p>
            <a:pPr algn="l">
              <a:lnSpc>
                <a:spcPct val="112000"/>
              </a:lnSpc>
              <a:spcAft>
                <a:spcPts val="700"/>
              </a:spcAft>
            </a:pPr>
            <a:r>
              <a:rPr sz="1220" b="0" i="0">
                <a:solidFill>
                  <a:srgbClr val="111A20"/>
                </a:solidFill>
                <a:latin typeface="Frutiger"/>
              </a:rPr>
              <a:t>Valence: pleasant to distressing.</a:t>
            </a:r>
          </a:p>
          <a:p>
            <a:pPr algn="l">
              <a:lnSpc>
                <a:spcPct val="112000"/>
              </a:lnSpc>
              <a:spcAft>
                <a:spcPts val="700"/>
              </a:spcAft>
            </a:pPr>
            <a:r>
              <a:rPr sz="1220" b="0" i="0">
                <a:solidFill>
                  <a:srgbClr val="111A20"/>
                </a:solidFill>
                <a:latin typeface="Frutiger"/>
              </a:rPr>
              <a:t>Arousal: calm to activated.</a:t>
            </a:r>
          </a:p>
          <a:p>
            <a:pPr algn="l">
              <a:lnSpc>
                <a:spcPct val="112000"/>
              </a:lnSpc>
              <a:spcAft>
                <a:spcPts val="700"/>
              </a:spcAft>
            </a:pPr>
            <a:r>
              <a:rPr sz="1220" b="0" i="0">
                <a:solidFill>
                  <a:srgbClr val="111A20"/>
                </a:solidFill>
                <a:latin typeface="Frutiger"/>
              </a:rPr>
              <a:t>Alongside four physical readouts: size, glow, texture, tempo.</a:t>
            </a:r>
          </a:p>
        </p:txBody>
      </p:sp>
      <p:cxnSp>
        <p:nvCxnSpPr>
          <p:cNvPr id="15" name="Connector 14"/>
          <p:cNvCxnSpPr/>
          <p:nvPr/>
        </p:nvCxnSpPr>
        <p:spPr>
          <a:xfrm>
            <a:off x="8897112" y="2514600"/>
            <a:ext cx="2377440"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97112" y="2743200"/>
            <a:ext cx="2377440" cy="274320"/>
          </a:xfrm>
          <a:prstGeom prst="rect">
            <a:avLst/>
          </a:prstGeom>
          <a:noFill/>
        </p:spPr>
        <p:txBody>
          <a:bodyPr wrap="square" lIns="0" rIns="0" tIns="0" bIns="0" anchor="t">
            <a:noAutofit/>
          </a:bodyPr>
          <a:lstStyle/>
          <a:p>
            <a:pPr algn="l"/>
            <a:r>
              <a:rPr sz="1090" b="1" i="0" spc="100">
                <a:solidFill>
                  <a:srgbClr val="5390A2"/>
                </a:solidFill>
                <a:latin typeface="Frutiger"/>
              </a:rPr>
              <a:t>04</a:t>
            </a:r>
          </a:p>
        </p:txBody>
      </p:sp>
      <p:sp>
        <p:nvSpPr>
          <p:cNvPr id="17" name="TextBox 16"/>
          <p:cNvSpPr txBox="1"/>
          <p:nvPr/>
        </p:nvSpPr>
        <p:spPr>
          <a:xfrm>
            <a:off x="8897112" y="3154680"/>
            <a:ext cx="2377440" cy="822960"/>
          </a:xfrm>
          <a:prstGeom prst="rect">
            <a:avLst/>
          </a:prstGeom>
          <a:noFill/>
        </p:spPr>
        <p:txBody>
          <a:bodyPr wrap="square" lIns="0" rIns="0" tIns="0" bIns="0" anchor="t">
            <a:noAutofit/>
          </a:bodyPr>
          <a:lstStyle/>
          <a:p>
            <a:pPr algn="l">
              <a:lnSpc>
                <a:spcPct val="100000"/>
              </a:lnSpc>
            </a:pPr>
            <a:r>
              <a:rPr sz="1930" b="0" i="0">
                <a:solidFill>
                  <a:srgbClr val="111A20"/>
                </a:solidFill>
                <a:latin typeface="Athelas"/>
              </a:rPr>
              <a:t>XR experience</a:t>
            </a:r>
          </a:p>
        </p:txBody>
      </p:sp>
      <p:sp>
        <p:nvSpPr>
          <p:cNvPr id="18" name="TextBox 17"/>
          <p:cNvSpPr txBox="1"/>
          <p:nvPr/>
        </p:nvSpPr>
        <p:spPr>
          <a:xfrm>
            <a:off x="8897112" y="3931920"/>
            <a:ext cx="2331720" cy="2011680"/>
          </a:xfrm>
          <a:prstGeom prst="rect">
            <a:avLst/>
          </a:prstGeom>
          <a:noFill/>
        </p:spPr>
        <p:txBody>
          <a:bodyPr wrap="square" lIns="0" rIns="0" tIns="0" bIns="0" anchor="t">
            <a:noAutofit/>
          </a:bodyPr>
          <a:lstStyle/>
          <a:p>
            <a:pPr algn="l">
              <a:lnSpc>
                <a:spcPct val="112000"/>
              </a:lnSpc>
              <a:spcAft>
                <a:spcPts val="700"/>
              </a:spcAft>
            </a:pPr>
            <a:r>
              <a:rPr sz="1220" b="0" i="0">
                <a:solidFill>
                  <a:srgbClr val="5F6F78"/>
                </a:solidFill>
                <a:latin typeface="Frutiger"/>
              </a:rPr>
              <a:t>Designed to feed an immersive XR experience. The output format is still provisional.</a:t>
            </a:r>
          </a:p>
        </p:txBody>
      </p:sp>
      <p:pic>
        <p:nvPicPr>
          <p:cNvPr id="19" name="Picture 18" descr="logo.png"/>
          <p:cNvPicPr>
            <a:picLocks noChangeAspect="1"/>
          </p:cNvPicPr>
          <p:nvPr/>
        </p:nvPicPr>
        <p:blipFill>
          <a:blip r:embed="rId3"/>
          <a:stretch>
            <a:fillRect/>
          </a:stretch>
        </p:blipFill>
        <p:spPr>
          <a:xfrm>
            <a:off x="914400" y="6236208"/>
            <a:ext cx="2120348" cy="292608"/>
          </a:xfrm>
          <a:prstGeom prst="rect">
            <a:avLst/>
          </a:prstGeom>
        </p:spPr>
      </p:pic>
      <p:sp>
        <p:nvSpPr>
          <p:cNvPr id="20" name="TextBox 19"/>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685800"/>
            <a:ext cx="10362895" cy="1371600"/>
          </a:xfrm>
          <a:prstGeom prst="rect">
            <a:avLst/>
          </a:prstGeom>
          <a:noFill/>
        </p:spPr>
        <p:txBody>
          <a:bodyPr wrap="square" lIns="0" rIns="0" tIns="0" bIns="0" anchor="t">
            <a:noAutofit/>
          </a:bodyPr>
          <a:lstStyle/>
          <a:p>
            <a:pPr algn="l">
              <a:lnSpc>
                <a:spcPct val="105000"/>
              </a:lnSpc>
            </a:pPr>
            <a:r>
              <a:rPr sz="3360" b="0" i="0">
                <a:solidFill>
                  <a:srgbClr val="111A20"/>
                </a:solidFill>
                <a:latin typeface="Athelas"/>
              </a:rPr>
              <a:t>Built to be universal</a:t>
            </a:r>
          </a:p>
        </p:txBody>
      </p:sp>
      <p:sp>
        <p:nvSpPr>
          <p:cNvPr id="3" name="TextBox 2"/>
          <p:cNvSpPr txBox="1"/>
          <p:nvPr/>
        </p:nvSpPr>
        <p:spPr>
          <a:xfrm>
            <a:off x="914400" y="2057400"/>
            <a:ext cx="10362895" cy="1371600"/>
          </a:xfrm>
          <a:prstGeom prst="rect">
            <a:avLst/>
          </a:prstGeom>
          <a:noFill/>
        </p:spPr>
        <p:txBody>
          <a:bodyPr wrap="square" lIns="0" rIns="0" tIns="0" bIns="0" anchor="t">
            <a:noAutofit/>
          </a:bodyPr>
          <a:lstStyle/>
          <a:p>
            <a:pPr algn="l">
              <a:lnSpc>
                <a:spcPct val="115000"/>
              </a:lnSpc>
            </a:pPr>
            <a:r>
              <a:rPr sz="2270" b="0" i="0">
                <a:solidFill>
                  <a:srgbClr val="111A20"/>
                </a:solidFill>
                <a:latin typeface="Athelas"/>
              </a:rPr>
              <a:t>Each record fits its own model on its own history. Another rainfall or river record can go through the same pipeline.</a:t>
            </a:r>
          </a:p>
        </p:txBody>
      </p:sp>
      <p:cxnSp>
        <p:nvCxnSpPr>
          <p:cNvPr id="4" name="Connector 3"/>
          <p:cNvCxnSpPr/>
          <p:nvPr/>
        </p:nvCxnSpPr>
        <p:spPr>
          <a:xfrm>
            <a:off x="914400" y="3703320"/>
            <a:ext cx="10362895"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3886200"/>
            <a:ext cx="3840480" cy="457200"/>
          </a:xfrm>
          <a:prstGeom prst="rect">
            <a:avLst/>
          </a:prstGeom>
          <a:noFill/>
        </p:spPr>
        <p:txBody>
          <a:bodyPr wrap="square" lIns="0" rIns="0" tIns="0" bIns="0" anchor="t">
            <a:noAutofit/>
          </a:bodyPr>
          <a:lstStyle/>
          <a:p>
            <a:pPr algn="l"/>
            <a:r>
              <a:rPr sz="1760" b="0" i="0">
                <a:solidFill>
                  <a:srgbClr val="111A20"/>
                </a:solidFill>
                <a:latin typeface="Athelas"/>
              </a:rPr>
              <a:t>Hong Kong rainfall</a:t>
            </a:r>
          </a:p>
        </p:txBody>
      </p:sp>
      <p:sp>
        <p:nvSpPr>
          <p:cNvPr id="6" name="TextBox 5"/>
          <p:cNvSpPr txBox="1"/>
          <p:nvPr/>
        </p:nvSpPr>
        <p:spPr>
          <a:xfrm>
            <a:off x="4937760" y="3950208"/>
            <a:ext cx="6339535" cy="457200"/>
          </a:xfrm>
          <a:prstGeom prst="rect">
            <a:avLst/>
          </a:prstGeom>
          <a:noFill/>
        </p:spPr>
        <p:txBody>
          <a:bodyPr wrap="square" lIns="0" rIns="0" tIns="0" bIns="0" anchor="t">
            <a:noAutofit/>
          </a:bodyPr>
          <a:lstStyle/>
          <a:p>
            <a:pPr algn="l"/>
            <a:r>
              <a:rPr sz="1180" b="0" i="0">
                <a:solidFill>
                  <a:srgbClr val="5F6F78"/>
                </a:solidFill>
                <a:latin typeface="Frutiger"/>
              </a:rPr>
              <a:t>Public record, Hong Kong Observatory. Daily, 1884–2025.</a:t>
            </a:r>
          </a:p>
        </p:txBody>
      </p:sp>
      <p:cxnSp>
        <p:nvCxnSpPr>
          <p:cNvPr id="7" name="Connector 6"/>
          <p:cNvCxnSpPr/>
          <p:nvPr/>
        </p:nvCxnSpPr>
        <p:spPr>
          <a:xfrm>
            <a:off x="914400" y="4434840"/>
            <a:ext cx="10362895"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617720"/>
            <a:ext cx="3840480" cy="457200"/>
          </a:xfrm>
          <a:prstGeom prst="rect">
            <a:avLst/>
          </a:prstGeom>
          <a:noFill/>
        </p:spPr>
        <p:txBody>
          <a:bodyPr wrap="square" lIns="0" rIns="0" tIns="0" bIns="0" anchor="t">
            <a:noAutofit/>
          </a:bodyPr>
          <a:lstStyle/>
          <a:p>
            <a:pPr algn="l"/>
            <a:r>
              <a:rPr sz="1760" b="0" i="0">
                <a:solidFill>
                  <a:srgbClr val="111A20"/>
                </a:solidFill>
                <a:latin typeface="Athelas"/>
              </a:rPr>
              <a:t>Rhine and alpine rivers</a:t>
            </a:r>
          </a:p>
        </p:txBody>
      </p:sp>
      <p:sp>
        <p:nvSpPr>
          <p:cNvPr id="9" name="TextBox 8"/>
          <p:cNvSpPr txBox="1"/>
          <p:nvPr/>
        </p:nvSpPr>
        <p:spPr>
          <a:xfrm>
            <a:off x="4937760" y="4681727"/>
            <a:ext cx="6339535" cy="457200"/>
          </a:xfrm>
          <a:prstGeom prst="rect">
            <a:avLst/>
          </a:prstGeom>
          <a:noFill/>
        </p:spPr>
        <p:txBody>
          <a:bodyPr wrap="square" lIns="0" rIns="0" tIns="0" bIns="0" anchor="t">
            <a:noAutofit/>
          </a:bodyPr>
          <a:lstStyle/>
          <a:p>
            <a:pPr algn="l"/>
            <a:r>
              <a:rPr sz="1180" b="0" i="0">
                <a:solidFill>
                  <a:srgbClr val="5F6F78"/>
                </a:solidFill>
                <a:latin typeface="Frutiger"/>
              </a:rPr>
              <a:t>Public records, GRDC and FOEN. Daily, 8 stations.</a:t>
            </a:r>
          </a:p>
        </p:txBody>
      </p:sp>
      <p:cxnSp>
        <p:nvCxnSpPr>
          <p:cNvPr id="10" name="Connector 9"/>
          <p:cNvCxnSpPr/>
          <p:nvPr/>
        </p:nvCxnSpPr>
        <p:spPr>
          <a:xfrm>
            <a:off x="914400" y="5166359"/>
            <a:ext cx="10362895" cy="0"/>
          </a:xfrm>
          <a:prstGeom prst="line">
            <a:avLst/>
          </a:prstGeom>
          <a:ln w="15875">
            <a:solidFill>
              <a:srgbClr val="D3DDE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5349240"/>
            <a:ext cx="3840480" cy="457200"/>
          </a:xfrm>
          <a:prstGeom prst="rect">
            <a:avLst/>
          </a:prstGeom>
          <a:noFill/>
        </p:spPr>
        <p:txBody>
          <a:bodyPr wrap="square" lIns="0" rIns="0" tIns="0" bIns="0" anchor="t">
            <a:noAutofit/>
          </a:bodyPr>
          <a:lstStyle/>
          <a:p>
            <a:pPr algn="l"/>
            <a:r>
              <a:rPr sz="1760" b="0" i="0">
                <a:solidFill>
                  <a:srgbClr val="5F6F78"/>
                </a:solidFill>
                <a:latin typeface="Athelas"/>
              </a:rPr>
              <a:t>The next record</a:t>
            </a:r>
          </a:p>
        </p:txBody>
      </p:sp>
      <p:sp>
        <p:nvSpPr>
          <p:cNvPr id="12" name="TextBox 11"/>
          <p:cNvSpPr txBox="1"/>
          <p:nvPr/>
        </p:nvSpPr>
        <p:spPr>
          <a:xfrm>
            <a:off x="4937760" y="5413248"/>
            <a:ext cx="6339535" cy="457200"/>
          </a:xfrm>
          <a:prstGeom prst="rect">
            <a:avLst/>
          </a:prstGeom>
          <a:noFill/>
        </p:spPr>
        <p:txBody>
          <a:bodyPr wrap="square" lIns="0" rIns="0" tIns="0" bIns="0" anchor="t">
            <a:noAutofit/>
          </a:bodyPr>
          <a:lstStyle/>
          <a:p>
            <a:pPr algn="l"/>
            <a:r>
              <a:rPr sz="1180" b="0" i="0">
                <a:solidFill>
                  <a:srgbClr val="5F6F78"/>
                </a:solidFill>
                <a:latin typeface="Frutiger"/>
              </a:rPr>
              <a:t>Not yet run. Tested on two records so far.</a:t>
            </a:r>
          </a:p>
        </p:txBody>
      </p:sp>
      <p:pic>
        <p:nvPicPr>
          <p:cNvPr id="13" name="Picture 12" descr="logo.png"/>
          <p:cNvPicPr>
            <a:picLocks noChangeAspect="1"/>
          </p:cNvPicPr>
          <p:nvPr/>
        </p:nvPicPr>
        <p:blipFill>
          <a:blip r:embed="rId3"/>
          <a:stretch>
            <a:fillRect/>
          </a:stretch>
        </p:blipFill>
        <p:spPr>
          <a:xfrm>
            <a:off x="914400" y="6236208"/>
            <a:ext cx="2120348" cy="292608"/>
          </a:xfrm>
          <a:prstGeom prst="rect">
            <a:avLst/>
          </a:prstGeom>
        </p:spPr>
      </p:pic>
      <p:sp>
        <p:nvSpPr>
          <p:cNvPr id="14" name="TextBox 13"/>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685800"/>
            <a:ext cx="10362895" cy="1371600"/>
          </a:xfrm>
          <a:prstGeom prst="rect">
            <a:avLst/>
          </a:prstGeom>
          <a:noFill/>
        </p:spPr>
        <p:txBody>
          <a:bodyPr wrap="square" lIns="0" rIns="0" tIns="0" bIns="0" anchor="t">
            <a:noAutofit/>
          </a:bodyPr>
          <a:lstStyle/>
          <a:p>
            <a:pPr algn="l">
              <a:lnSpc>
                <a:spcPct val="105000"/>
              </a:lnSpc>
            </a:pPr>
            <a:r>
              <a:rPr sz="3360" b="0" i="0">
                <a:solidFill>
                  <a:srgbClr val="111A20"/>
                </a:solidFill>
                <a:latin typeface="Athelas"/>
              </a:rPr>
              <a:t>Two layers, kept deliberately apart</a:t>
            </a:r>
          </a:p>
        </p:txBody>
      </p:sp>
      <p:sp>
        <p:nvSpPr>
          <p:cNvPr id="3" name="TextBox 2"/>
          <p:cNvSpPr txBox="1"/>
          <p:nvPr/>
        </p:nvSpPr>
        <p:spPr>
          <a:xfrm>
            <a:off x="914400" y="2331720"/>
            <a:ext cx="4754880" cy="548640"/>
          </a:xfrm>
          <a:prstGeom prst="rect">
            <a:avLst/>
          </a:prstGeom>
          <a:noFill/>
        </p:spPr>
        <p:txBody>
          <a:bodyPr wrap="square" lIns="0" rIns="0" tIns="0" bIns="0" anchor="t">
            <a:noAutofit/>
          </a:bodyPr>
          <a:lstStyle/>
          <a:p>
            <a:pPr algn="l"/>
            <a:r>
              <a:rPr sz="2690" b="0" i="0">
                <a:solidFill>
                  <a:srgbClr val="111A20"/>
                </a:solidFill>
                <a:latin typeface="Athelas"/>
              </a:rPr>
              <a:t>Diagnostic layer</a:t>
            </a:r>
          </a:p>
        </p:txBody>
      </p:sp>
      <p:sp>
        <p:nvSpPr>
          <p:cNvPr id="4" name="TextBox 3"/>
          <p:cNvSpPr txBox="1"/>
          <p:nvPr/>
        </p:nvSpPr>
        <p:spPr>
          <a:xfrm>
            <a:off x="914400" y="2926080"/>
            <a:ext cx="4754880" cy="274320"/>
          </a:xfrm>
          <a:prstGeom prst="rect">
            <a:avLst/>
          </a:prstGeom>
          <a:noFill/>
        </p:spPr>
        <p:txBody>
          <a:bodyPr wrap="square" lIns="0" rIns="0" tIns="0" bIns="0" anchor="t">
            <a:noAutofit/>
          </a:bodyPr>
          <a:lstStyle/>
          <a:p>
            <a:pPr algn="l"/>
            <a:r>
              <a:rPr sz="1010" b="1" i="0" spc="140">
                <a:solidFill>
                  <a:srgbClr val="5F6F78"/>
                </a:solidFill>
                <a:latin typeface="Frutiger"/>
              </a:rPr>
              <a:t>PLAIN SCIENCE</a:t>
            </a:r>
          </a:p>
        </p:txBody>
      </p:sp>
      <p:sp>
        <p:nvSpPr>
          <p:cNvPr id="5" name="TextBox 4"/>
          <p:cNvSpPr txBox="1"/>
          <p:nvPr/>
        </p:nvSpPr>
        <p:spPr>
          <a:xfrm>
            <a:off x="914400" y="3474720"/>
            <a:ext cx="4754880" cy="2560320"/>
          </a:xfrm>
          <a:prstGeom prst="rect">
            <a:avLst/>
          </a:prstGeom>
          <a:noFill/>
        </p:spPr>
        <p:txBody>
          <a:bodyPr wrap="square" lIns="0" rIns="0" tIns="0" bIns="0" anchor="t">
            <a:noAutofit/>
          </a:bodyPr>
          <a:lstStyle/>
          <a:p>
            <a:pPr algn="l">
              <a:lnSpc>
                <a:spcPct val="112000"/>
              </a:lnSpc>
              <a:spcAft>
                <a:spcPts val="1200"/>
              </a:spcAft>
            </a:pPr>
            <a:r>
              <a:rPr sz="1390" b="0" i="0">
                <a:solidFill>
                  <a:srgbClr val="111A20"/>
                </a:solidFill>
                <a:latin typeface="Frutiger"/>
              </a:rPr>
              <a:t>Hong Kong rainfall, 1884–2025: annual peaks, the gaps between them, return periods.</a:t>
            </a:r>
          </a:p>
          <a:p>
            <a:pPr algn="l">
              <a:lnSpc>
                <a:spcPct val="112000"/>
              </a:lnSpc>
              <a:spcAft>
                <a:spcPts val="1200"/>
              </a:spcAft>
            </a:pPr>
            <a:r>
              <a:rPr sz="1390" b="0" i="0">
                <a:solidFill>
                  <a:srgbClr val="111A20"/>
                </a:solidFill>
                <a:latin typeface="Frutiger"/>
              </a:rPr>
              <a:t>Rhine and alpine rivers, 8 stations: flow duration, recession, the seasonal cycle.</a:t>
            </a:r>
          </a:p>
          <a:p>
            <a:pPr algn="l">
              <a:lnSpc>
                <a:spcPct val="112000"/>
              </a:lnSpc>
              <a:spcAft>
                <a:spcPts val="1200"/>
              </a:spcAft>
            </a:pPr>
            <a:r>
              <a:rPr sz="1390" b="0" i="0">
                <a:solidFill>
                  <a:srgbClr val="111A20"/>
                </a:solidFill>
                <a:latin typeface="Frutiger"/>
              </a:rPr>
              <a:t>Measures what happened, and is never adjusted for artistic reasons.</a:t>
            </a:r>
          </a:p>
        </p:txBody>
      </p:sp>
      <p:cxnSp>
        <p:nvCxnSpPr>
          <p:cNvPr id="6" name="Connector 5"/>
          <p:cNvCxnSpPr/>
          <p:nvPr/>
        </p:nvCxnSpPr>
        <p:spPr>
          <a:xfrm>
            <a:off x="6096304" y="2377440"/>
            <a:ext cx="0" cy="3566160"/>
          </a:xfrm>
          <a:prstGeom prst="line">
            <a:avLst/>
          </a:prstGeom>
          <a:ln w="12700">
            <a:solidFill>
              <a:srgbClr val="D3DD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22415" y="2331720"/>
            <a:ext cx="4754880" cy="548640"/>
          </a:xfrm>
          <a:prstGeom prst="rect">
            <a:avLst/>
          </a:prstGeom>
          <a:noFill/>
        </p:spPr>
        <p:txBody>
          <a:bodyPr wrap="square" lIns="0" rIns="0" tIns="0" bIns="0" anchor="t">
            <a:noAutofit/>
          </a:bodyPr>
          <a:lstStyle/>
          <a:p>
            <a:pPr algn="l"/>
            <a:r>
              <a:rPr sz="2690" b="0" i="0">
                <a:solidFill>
                  <a:srgbClr val="111A20"/>
                </a:solidFill>
                <a:latin typeface="Athelas"/>
              </a:rPr>
              <a:t>Curatorial layer</a:t>
            </a:r>
          </a:p>
        </p:txBody>
      </p:sp>
      <p:sp>
        <p:nvSpPr>
          <p:cNvPr id="8" name="TextBox 7"/>
          <p:cNvSpPr txBox="1"/>
          <p:nvPr/>
        </p:nvSpPr>
        <p:spPr>
          <a:xfrm>
            <a:off x="6522415" y="2926080"/>
            <a:ext cx="4754880" cy="274320"/>
          </a:xfrm>
          <a:prstGeom prst="rect">
            <a:avLst/>
          </a:prstGeom>
          <a:noFill/>
        </p:spPr>
        <p:txBody>
          <a:bodyPr wrap="square" lIns="0" rIns="0" tIns="0" bIns="0" anchor="t">
            <a:noAutofit/>
          </a:bodyPr>
          <a:lstStyle/>
          <a:p>
            <a:pPr algn="l"/>
            <a:r>
              <a:rPr sz="1010" b="1" i="0" spc="140">
                <a:solidFill>
                  <a:srgbClr val="00526F"/>
                </a:solidFill>
                <a:latin typeface="Frutiger"/>
              </a:rPr>
              <a:t>DESIGNED</a:t>
            </a:r>
          </a:p>
        </p:txBody>
      </p:sp>
      <p:sp>
        <p:nvSpPr>
          <p:cNvPr id="9" name="TextBox 8"/>
          <p:cNvSpPr txBox="1"/>
          <p:nvPr/>
        </p:nvSpPr>
        <p:spPr>
          <a:xfrm>
            <a:off x="6522415" y="3474720"/>
            <a:ext cx="4754880" cy="2560320"/>
          </a:xfrm>
          <a:prstGeom prst="rect">
            <a:avLst/>
          </a:prstGeom>
          <a:noFill/>
        </p:spPr>
        <p:txBody>
          <a:bodyPr wrap="square" lIns="0" rIns="0" tIns="0" bIns="0" anchor="t">
            <a:noAutofit/>
          </a:bodyPr>
          <a:lstStyle/>
          <a:p>
            <a:pPr algn="l">
              <a:lnSpc>
                <a:spcPct val="112000"/>
              </a:lnSpc>
              <a:spcAft>
                <a:spcPts val="1200"/>
              </a:spcAft>
            </a:pPr>
            <a:r>
              <a:rPr sz="1390" b="0" i="0">
                <a:solidFill>
                  <a:srgbClr val="111A20"/>
                </a:solidFill>
                <a:latin typeface="Frutiger"/>
              </a:rPr>
              <a:t>Decides how the results should feel: how alarming, how heavy.</a:t>
            </a:r>
          </a:p>
          <a:p>
            <a:pPr algn="l">
              <a:lnSpc>
                <a:spcPct val="112000"/>
              </a:lnSpc>
              <a:spcAft>
                <a:spcPts val="1200"/>
              </a:spcAft>
            </a:pPr>
            <a:r>
              <a:rPr sz="1390" b="0" i="0">
                <a:solidFill>
                  <a:srgbClr val="111A20"/>
                </a:solidFill>
                <a:latin typeface="Frutiger"/>
              </a:rPr>
              <a:t>Currently kept separate from the measurements, so the feeling could be redesigned without changing any of the science.</a:t>
            </a:r>
          </a:p>
          <a:p>
            <a:pPr algn="l">
              <a:lnSpc>
                <a:spcPct val="112000"/>
              </a:lnSpc>
              <a:spcAft>
                <a:spcPts val="1200"/>
              </a:spcAft>
            </a:pPr>
            <a:r>
              <a:rPr sz="1390" b="0" i="0">
                <a:solidFill>
                  <a:srgbClr val="111A20"/>
                </a:solidFill>
                <a:latin typeface="Frutiger"/>
              </a:rPr>
              <a:t>Its output: valence and arousal.</a:t>
            </a:r>
          </a:p>
        </p:txBody>
      </p:sp>
      <p:pic>
        <p:nvPicPr>
          <p:cNvPr id="10" name="Picture 9" descr="logo.png"/>
          <p:cNvPicPr>
            <a:picLocks noChangeAspect="1"/>
          </p:cNvPicPr>
          <p:nvPr/>
        </p:nvPicPr>
        <p:blipFill>
          <a:blip r:embed="rId3"/>
          <a:stretch>
            <a:fillRect/>
          </a:stretch>
        </p:blipFill>
        <p:spPr>
          <a:xfrm>
            <a:off x="914400" y="6236208"/>
            <a:ext cx="2120348" cy="292608"/>
          </a:xfrm>
          <a:prstGeom prst="rect">
            <a:avLst/>
          </a:prstGeom>
        </p:spPr>
      </p:pic>
      <p:sp>
        <p:nvSpPr>
          <p:cNvPr id="11" name="TextBox 10"/>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685800"/>
            <a:ext cx="10362895" cy="1371600"/>
          </a:xfrm>
          <a:prstGeom prst="rect">
            <a:avLst/>
          </a:prstGeom>
          <a:noFill/>
        </p:spPr>
        <p:txBody>
          <a:bodyPr wrap="square" lIns="0" rIns="0" tIns="0" bIns="0" anchor="t">
            <a:noAutofit/>
          </a:bodyPr>
          <a:lstStyle/>
          <a:p>
            <a:pPr algn="l">
              <a:lnSpc>
                <a:spcPct val="105000"/>
              </a:lnSpc>
            </a:pPr>
            <a:r>
              <a:rPr sz="3360" b="0" i="0">
                <a:solidFill>
                  <a:srgbClr val="111A20"/>
                </a:solidFill>
                <a:latin typeface="Athelas"/>
              </a:rPr>
              <a:t>Machine learning finds unusual years</a:t>
            </a:r>
          </a:p>
        </p:txBody>
      </p:sp>
      <p:sp>
        <p:nvSpPr>
          <p:cNvPr id="3" name="TextBox 2"/>
          <p:cNvSpPr txBox="1"/>
          <p:nvPr/>
        </p:nvSpPr>
        <p:spPr>
          <a:xfrm>
            <a:off x="914400" y="1463040"/>
            <a:ext cx="10362895" cy="365760"/>
          </a:xfrm>
          <a:prstGeom prst="rect">
            <a:avLst/>
          </a:prstGeom>
          <a:noFill/>
        </p:spPr>
        <p:txBody>
          <a:bodyPr wrap="square" lIns="0" rIns="0" tIns="0" bIns="0" anchor="t">
            <a:noAutofit/>
          </a:bodyPr>
          <a:lstStyle/>
          <a:p>
            <a:pPr algn="l"/>
            <a:r>
              <a:rPr sz="1340" b="0" i="0">
                <a:solidFill>
                  <a:srgbClr val="5F6F78"/>
                </a:solidFill>
                <a:latin typeface="Frutiger"/>
              </a:rPr>
              <a:t>Its one job so far, unsupervised: learn what a typical year looks like, then score how badly each year fits.</a:t>
            </a:r>
          </a:p>
        </p:txBody>
      </p:sp>
      <p:pic>
        <p:nvPicPr>
          <p:cNvPr id="4" name="Picture 3" descr="anomaly_floods2.png"/>
          <p:cNvPicPr>
            <a:picLocks noChangeAspect="1"/>
          </p:cNvPicPr>
          <p:nvPr/>
        </p:nvPicPr>
        <p:blipFill>
          <a:blip r:embed="rId3"/>
          <a:stretch>
            <a:fillRect/>
          </a:stretch>
        </p:blipFill>
        <p:spPr>
          <a:xfrm>
            <a:off x="914400" y="2148840"/>
            <a:ext cx="10362895" cy="3019046"/>
          </a:xfrm>
          <a:prstGeom prst="rect">
            <a:avLst/>
          </a:prstGeom>
        </p:spPr>
      </p:pic>
      <p:sp>
        <p:nvSpPr>
          <p:cNvPr id="5" name="TextBox 4"/>
          <p:cNvSpPr txBox="1"/>
          <p:nvPr/>
        </p:nvSpPr>
        <p:spPr>
          <a:xfrm>
            <a:off x="914400" y="5230368"/>
            <a:ext cx="10362895" cy="365760"/>
          </a:xfrm>
          <a:prstGeom prst="rect">
            <a:avLst/>
          </a:prstGeom>
          <a:noFill/>
        </p:spPr>
        <p:txBody>
          <a:bodyPr wrap="square" lIns="0" rIns="0" tIns="0" bIns="0" anchor="t">
            <a:noAutofit/>
          </a:bodyPr>
          <a:lstStyle/>
          <a:p>
            <a:pPr algn="l"/>
            <a:r>
              <a:rPr sz="1260" b="1" i="0">
                <a:solidFill>
                  <a:srgbClr val="111A20"/>
                </a:solidFill>
                <a:latin typeface="Frutiger"/>
              </a:rPr>
              <a:t>The highlighted bar is each station's highest-scoring year. </a:t>
            </a:r>
            <a:r>
              <a:rPr sz="1260" b="0" i="0">
                <a:solidFill>
                  <a:srgbClr val="111A20"/>
                </a:solidFill>
                <a:latin typeface="Frutiger"/>
              </a:rPr>
              <a:t>The model was never told these events existed.</a:t>
            </a:r>
          </a:p>
        </p:txBody>
      </p:sp>
      <p:sp>
        <p:nvSpPr>
          <p:cNvPr id="6" name="TextBox 5"/>
          <p:cNvSpPr txBox="1"/>
          <p:nvPr/>
        </p:nvSpPr>
        <p:spPr>
          <a:xfrm>
            <a:off x="914400" y="5623560"/>
            <a:ext cx="10362895" cy="457200"/>
          </a:xfrm>
          <a:prstGeom prst="rect">
            <a:avLst/>
          </a:prstGeom>
          <a:noFill/>
        </p:spPr>
        <p:txBody>
          <a:bodyPr wrap="square" lIns="0" rIns="0" tIns="0" bIns="0" anchor="t">
            <a:noAutofit/>
          </a:bodyPr>
          <a:lstStyle/>
          <a:p>
            <a:pPr algn="l">
              <a:lnSpc>
                <a:spcPct val="108000"/>
              </a:lnSpc>
            </a:pPr>
            <a:r>
              <a:rPr sz="1000" b="0" i="0">
                <a:solidFill>
                  <a:srgbClr val="5F6F78"/>
                </a:solidFill>
                <a:latin typeface="Frutiger"/>
              </a:rPr>
              <a:t>Method: PCA reconstruction error, fit separately per station on its own years. Events: Aug 2005 Alpine floods (22–23 Aug), May 1999 Swiss floods (Thun, 15 May), Christmas 1993 Rhine flood (Köln, 24 Dec).</a:t>
            </a:r>
          </a:p>
        </p:txBody>
      </p:sp>
      <p:pic>
        <p:nvPicPr>
          <p:cNvPr id="7" name="Picture 6" descr="logo.png"/>
          <p:cNvPicPr>
            <a:picLocks noChangeAspect="1"/>
          </p:cNvPicPr>
          <p:nvPr/>
        </p:nvPicPr>
        <p:blipFill>
          <a:blip r:embed="rId4"/>
          <a:stretch>
            <a:fillRect/>
          </a:stretch>
        </p:blipFill>
        <p:spPr>
          <a:xfrm>
            <a:off x="914400" y="6236208"/>
            <a:ext cx="2120348" cy="292608"/>
          </a:xfrm>
          <a:prstGeom prst="rect">
            <a:avLst/>
          </a:prstGeom>
        </p:spPr>
      </p:pic>
      <p:sp>
        <p:nvSpPr>
          <p:cNvPr id="8" name="TextBox 7"/>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685800"/>
            <a:ext cx="10362895" cy="1371600"/>
          </a:xfrm>
          <a:prstGeom prst="rect">
            <a:avLst/>
          </a:prstGeom>
          <a:noFill/>
        </p:spPr>
        <p:txBody>
          <a:bodyPr wrap="square" lIns="0" rIns="0" tIns="0" bIns="0" anchor="t">
            <a:noAutofit/>
          </a:bodyPr>
          <a:lstStyle/>
          <a:p>
            <a:pPr algn="l">
              <a:lnSpc>
                <a:spcPct val="105000"/>
              </a:lnSpc>
            </a:pPr>
            <a:r>
              <a:rPr sz="3360" b="0" i="0">
                <a:solidFill>
                  <a:srgbClr val="111A20"/>
                </a:solidFill>
                <a:latin typeface="Athelas"/>
              </a:rPr>
              <a:t>The end result is how people respond</a:t>
            </a:r>
          </a:p>
        </p:txBody>
      </p:sp>
      <p:sp>
        <p:nvSpPr>
          <p:cNvPr id="3" name="TextBox 2"/>
          <p:cNvSpPr txBox="1"/>
          <p:nvPr/>
        </p:nvSpPr>
        <p:spPr>
          <a:xfrm>
            <a:off x="914400" y="2103120"/>
            <a:ext cx="10362895" cy="1828800"/>
          </a:xfrm>
          <a:prstGeom prst="rect">
            <a:avLst/>
          </a:prstGeom>
          <a:noFill/>
        </p:spPr>
        <p:txBody>
          <a:bodyPr wrap="square" lIns="0" rIns="0" tIns="0" bIns="0" anchor="t">
            <a:noAutofit/>
          </a:bodyPr>
          <a:lstStyle/>
          <a:p>
            <a:pPr algn="l">
              <a:lnSpc>
                <a:spcPct val="115000"/>
              </a:lnSpc>
            </a:pPr>
            <a:r>
              <a:rPr sz="2180" b="0" i="0">
                <a:solidFill>
                  <a:srgbClr val="111A20"/>
                </a:solidFill>
                <a:latin typeface="Athelas"/>
              </a:rPr>
              <a:t>Noéa connects machine intelligence to natural intelligence: a model learns the rhythm of a river or rainfall record and flags when it breaks.</a:t>
            </a:r>
          </a:p>
        </p:txBody>
      </p:sp>
      <p:cxnSp>
        <p:nvCxnSpPr>
          <p:cNvPr id="4" name="Connector 3"/>
          <p:cNvCxnSpPr/>
          <p:nvPr/>
        </p:nvCxnSpPr>
        <p:spPr>
          <a:xfrm>
            <a:off x="914400" y="4160520"/>
            <a:ext cx="1097280" cy="0"/>
          </a:xfrm>
          <a:prstGeom prst="line">
            <a:avLst/>
          </a:prstGeom>
          <a:ln w="38100">
            <a:solidFill>
              <a:srgbClr val="0052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389120"/>
            <a:ext cx="10362895" cy="1280160"/>
          </a:xfrm>
          <a:prstGeom prst="rect">
            <a:avLst/>
          </a:prstGeom>
          <a:noFill/>
        </p:spPr>
        <p:txBody>
          <a:bodyPr wrap="square" lIns="0" rIns="0" tIns="0" bIns="0" anchor="t">
            <a:noAutofit/>
          </a:bodyPr>
          <a:lstStyle/>
          <a:p>
            <a:pPr algn="l">
              <a:lnSpc>
                <a:spcPct val="115000"/>
              </a:lnSpc>
            </a:pPr>
            <a:r>
              <a:rPr sz="1850" b="0" i="1">
                <a:solidFill>
                  <a:srgbClr val="00526F"/>
                </a:solidFill>
                <a:latin typeface="Athelas"/>
              </a:rPr>
              <a:t>How people respond to that now has to be tested in human labs, with HCI methods. That is the research.</a:t>
            </a:r>
          </a:p>
        </p:txBody>
      </p:sp>
      <p:sp>
        <p:nvSpPr>
          <p:cNvPr id="6" name="TextBox 5"/>
          <p:cNvSpPr txBox="1"/>
          <p:nvPr/>
        </p:nvSpPr>
        <p:spPr>
          <a:xfrm>
            <a:off x="7162495" y="6309360"/>
            <a:ext cx="3383280" cy="274320"/>
          </a:xfrm>
          <a:prstGeom prst="rect">
            <a:avLst/>
          </a:prstGeom>
          <a:noFill/>
        </p:spPr>
        <p:txBody>
          <a:bodyPr wrap="square" lIns="0" rIns="0" tIns="0" bIns="0" anchor="t">
            <a:noAutofit/>
          </a:bodyPr>
          <a:lstStyle/>
          <a:p>
            <a:pPr algn="r"/>
            <a:r>
              <a:rPr sz="1000" b="1" i="0">
                <a:solidFill>
                  <a:srgbClr val="00526F"/>
                </a:solidFill>
                <a:latin typeface="Frutiger"/>
              </a:rPr>
              <a:t>meetingofwaters.org/noea</a:t>
            </a:r>
          </a:p>
        </p:txBody>
      </p:sp>
      <p:pic>
        <p:nvPicPr>
          <p:cNvPr id="7" name="Picture 6" descr="logo.png"/>
          <p:cNvPicPr>
            <a:picLocks noChangeAspect="1"/>
          </p:cNvPicPr>
          <p:nvPr/>
        </p:nvPicPr>
        <p:blipFill>
          <a:blip r:embed="rId3"/>
          <a:stretch>
            <a:fillRect/>
          </a:stretch>
        </p:blipFill>
        <p:spPr>
          <a:xfrm>
            <a:off x="914400" y="6236208"/>
            <a:ext cx="2120348" cy="292608"/>
          </a:xfrm>
          <a:prstGeom prst="rect">
            <a:avLst/>
          </a:prstGeom>
        </p:spPr>
      </p:pic>
      <p:sp>
        <p:nvSpPr>
          <p:cNvPr id="8" name="TextBox 7"/>
          <p:cNvSpPr txBox="1"/>
          <p:nvPr/>
        </p:nvSpPr>
        <p:spPr>
          <a:xfrm>
            <a:off x="10637215" y="6309360"/>
            <a:ext cx="640080" cy="274320"/>
          </a:xfrm>
          <a:prstGeom prst="rect">
            <a:avLst/>
          </a:prstGeom>
          <a:noFill/>
        </p:spPr>
        <p:txBody>
          <a:bodyPr wrap="square" lIns="0" rIns="0" tIns="0" bIns="0" anchor="t">
            <a:noAutofit/>
          </a:bodyPr>
          <a:lstStyle/>
          <a:p>
            <a:pPr algn="r"/>
            <a:r>
              <a:rPr sz="1000" b="0" i="0">
                <a:solidFill>
                  <a:srgbClr val="5F6F78"/>
                </a:solidFill>
                <a:latin typeface="Frutiger"/>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Noéa — an introduction</dc:title>
  <dc:subject/>
  <dc:creator>Meeting of Waters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